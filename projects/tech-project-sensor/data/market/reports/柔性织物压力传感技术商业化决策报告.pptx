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4" r:id="rId6"/>
    <p:sldId id="262" r:id="rId7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DE27CB-C89C-447C-9771-39D14595F7BC}" styleName="补充样式10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tx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bg1">
              <a:lumMod val="95001"/>
            </a:schemeClr>
          </a:solidFill>
        </a:fill>
      </a:tcStyle>
    </a:band2H>
    <a:band1V>
      <a:tcStyle>
        <a:tcBdr/>
        <a:fill>
          <a:solidFill>
            <a:schemeClr val="bg1">
              <a:lumMod val="95001"/>
            </a:schemeClr>
          </a:solidFill>
        </a:fill>
      </a:tcStyle>
    </a:band1V>
    <a:lastCol>
      <a:tcStyle>
        <a:tcBdr/>
        <a:fill>
          <a:solidFill>
            <a:srgbClr val="5AB6D4">
              <a:lumMod val="20002"/>
              <a:lumOff val="79998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/>
      </a:tcStyle>
    </a:firstCol>
    <a:lastRow>
      <a:tcTxStyle b="on"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tx1"/>
              </a:solidFill>
              <a:prstDash val="solid"/>
            </a:ln>
          </a:top>
          <a:bottom>
            <a:ln w="19050" cmpd="sng">
              <a:solidFill>
                <a:schemeClr val="tx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wCell>
      <a:tcTxStyle b="on">
        <a:fontRef idx="none">
          <a:srgbClr val="08090C"/>
        </a:fontRef>
      </a:tcTxStyle>
      <a:tcStyle>
        <a:tcBdr/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9050" cmpd="sng">
              <a:solidFill>
                <a:schemeClr val="bg1"/>
              </a:solidFill>
              <a:prstDash val="solid"/>
            </a:ln>
          </a:insideH>
          <a:insideV>
            <a:ln w="19050" cmpd="sng">
              <a:solidFill>
                <a:schemeClr val="bg1"/>
              </a:solidFill>
              <a:prstDash val="solid"/>
            </a:ln>
          </a:insideV>
        </a:tcBdr>
        <a:fill>
          <a:solidFill>
            <a:srgbClr val="5AB6D4"/>
          </a:solidFill>
        </a:fill>
      </a:tcStyle>
    </a:firstRow>
    <a:nwCell>
      <a:tcStyle>
        <a:tcBdr/>
        <a:fill>
          <a:solidFill>
            <a:srgbClr val="3F3F3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06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28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-24716" r="-8103" b="-34017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5BF7">
                  <a:alpha val="100000"/>
                  <a:lumMod val="5000"/>
                  <a:lumOff val="95000"/>
                </a:srgbClr>
              </a:gs>
              <a:gs pos="60000">
                <a:srgbClr val="FFFFFF">
                  <a:alpha val="0"/>
                </a:srgbClr>
              </a:gs>
            </a:gsLst>
            <a:lin ang="5400000"/>
          </a:gra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762000" y="5314950"/>
            <a:ext cx="10668000" cy="819149"/>
          </a:xfrm>
          <a:prstGeom prst="roundRect">
            <a:avLst>
              <a:gd name="adj" fmla="val 13280"/>
            </a:avLst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5" name="Group 5"/>
          <p:cNvGrpSpPr/>
          <p:nvPr/>
        </p:nvGrpSpPr>
        <p:grpSpPr>
          <a:xfrm rot="0">
            <a:off x="9485293" y="5508524"/>
            <a:ext cx="1440000" cy="432000"/>
            <a:chOff x="2265569" y="534464"/>
            <a:chExt cx="1440000" cy="432000"/>
          </a:xfrm>
        </p:grpSpPr>
        <p:sp>
          <p:nvSpPr>
            <p:cNvPr id="6" name="AutoShape 6"/>
            <p:cNvSpPr/>
            <p:nvPr/>
          </p:nvSpPr>
          <p:spPr>
            <a:xfrm>
              <a:off x="2265569" y="534464"/>
              <a:ext cx="1440000" cy="432000"/>
            </a:xfrm>
            <a:prstGeom prst="roundRect">
              <a:avLst>
                <a:gd name="adj" fmla="val 50000"/>
              </a:avLst>
            </a:prstGeom>
            <a:solidFill>
              <a:srgbClr val="4795FA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3273569" y="534464"/>
              <a:ext cx="432000" cy="432000"/>
              <a:chOff x="3809479" y="5424487"/>
              <a:chExt cx="519545" cy="519545"/>
            </a:xfrm>
            <a:gradFill>
              <a:gsLst>
                <a:gs pos="2999">
                  <a:srgbClr val="2F2F2F">
                    <a:alpha val="100000"/>
                  </a:srgbClr>
                </a:gs>
                <a:gs pos="100000">
                  <a:srgbClr val="065BF7">
                    <a:alpha val="100000"/>
                    <a:lumMod val="20000"/>
                    <a:lumOff val="80000"/>
                  </a:srgbClr>
                </a:gs>
              </a:gsLst>
              <a:lin ang="2700000"/>
            </a:gradFill>
          </p:grpSpPr>
          <p:sp>
            <p:nvSpPr>
              <p:cNvPr id="8" name="AutoShape 8"/>
              <p:cNvSpPr/>
              <p:nvPr/>
            </p:nvSpPr>
            <p:spPr>
              <a:xfrm>
                <a:off x="3809479" y="5424487"/>
                <a:ext cx="519545" cy="519545"/>
              </a:xfrm>
              <a:prstGeom prst="ellipse">
                <a:avLst/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 flipH="1">
                <a:off x="3944866" y="5558258"/>
                <a:ext cx="248771" cy="252000"/>
              </a:xfrm>
              <a:custGeom>
                <a:avLst/>
                <a:gdLst/>
                <a:ahLst/>
                <a:cxnLst/>
                <a:rect l="l" t="t" r="r" b="b"/>
                <a:pathLst>
                  <a:path w="13191" h="13382">
                    <a:moveTo>
                      <a:pt x="5626" y="12760"/>
                    </a:moveTo>
                    <a:lnTo>
                      <a:pt x="592" y="7719"/>
                    </a:lnTo>
                    <a:cubicBezTo>
                      <a:pt x="0" y="7126"/>
                      <a:pt x="0" y="6238"/>
                      <a:pt x="592" y="5647"/>
                    </a:cubicBezTo>
                    <a:lnTo>
                      <a:pt x="5626" y="616"/>
                    </a:lnTo>
                    <a:cubicBezTo>
                      <a:pt x="6216" y="26"/>
                      <a:pt x="7142" y="0"/>
                      <a:pt x="7728" y="587"/>
                    </a:cubicBezTo>
                    <a:cubicBezTo>
                      <a:pt x="8302" y="1160"/>
                      <a:pt x="8240" y="2127"/>
                      <a:pt x="7683" y="2683"/>
                    </a:cubicBezTo>
                    <a:lnTo>
                      <a:pt x="5225" y="5142"/>
                    </a:lnTo>
                    <a:cubicBezTo>
                      <a:pt x="5225" y="5142"/>
                      <a:pt x="11426" y="5150"/>
                      <a:pt x="11429" y="5150"/>
                    </a:cubicBezTo>
                    <a:cubicBezTo>
                      <a:pt x="11839" y="5150"/>
                      <a:pt x="12235" y="5310"/>
                      <a:pt x="12517" y="5608"/>
                    </a:cubicBezTo>
                    <a:cubicBezTo>
                      <a:pt x="13191" y="6328"/>
                      <a:pt x="13011" y="7588"/>
                      <a:pt x="12147" y="8067"/>
                    </a:cubicBezTo>
                    <a:cubicBezTo>
                      <a:pt x="11929" y="8188"/>
                      <a:pt x="11679" y="8252"/>
                      <a:pt x="11429" y="8251"/>
                    </a:cubicBezTo>
                    <a:lnTo>
                      <a:pt x="5225" y="8246"/>
                    </a:lnTo>
                    <a:cubicBezTo>
                      <a:pt x="5225" y="8246"/>
                      <a:pt x="7682" y="10702"/>
                      <a:pt x="7683" y="10703"/>
                    </a:cubicBezTo>
                    <a:cubicBezTo>
                      <a:pt x="8242" y="11262"/>
                      <a:pt x="8298" y="12224"/>
                      <a:pt x="7729" y="12795"/>
                    </a:cubicBezTo>
                    <a:cubicBezTo>
                      <a:pt x="7142" y="13382"/>
                      <a:pt x="6216" y="13351"/>
                      <a:pt x="5626" y="1276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065BF7">
                <a:alpha val="76862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9803"/>
              <a:alphaModFix amt="9803"/>
            </a:blip>
            <a:stretch>
              <a:fillRect l="-24716" r="-8103" b="-34017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 amt="100000"/>
                <a:alphaModFix amt="100000"/>
              </a:blip>
              <a:stretch>
                <a:fillRect l="-24716" r="-8103" b="-34017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65BF7">
                    <a:alpha val="100000"/>
                    <a:lumMod val="5000"/>
                    <a:lumOff val="95000"/>
                  </a:srgbClr>
                </a:gs>
                <a:gs pos="60000">
                  <a:srgbClr val="FFFFFF">
                    <a:alpha val="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065BF7">
                <a:alpha val="76862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9803"/>
              <a:alphaModFix amt="9803"/>
            </a:blip>
            <a:stretch>
              <a:fillRect l="-24716" r="-8103" b="-34017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065BF7">
                <a:alpha val="76862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9803"/>
              <a:alphaModFix amt="9803"/>
            </a:blip>
            <a:stretch>
              <a:fillRect l="-24716" r="-8103" b="-34017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9803"/>
              <a:alphaModFix amt="9803"/>
            </a:blip>
            <a:stretch>
              <a:fillRect l="-24716" r="-8103" b="-34017"/>
            </a:stretch>
          </a:blipFill>
          <a:ln>
            <a:prstDash val="solid"/>
            <a:headEnd type="none"/>
            <a:tailEnd type="none"/>
          </a:ln>
        </p:spPr>
      </p:sp>
      <p:grpSp>
        <p:nvGrpSpPr>
          <p:cNvPr id="3" name="Group 3"/>
          <p:cNvGrpSpPr/>
          <p:nvPr/>
        </p:nvGrpSpPr>
        <p:grpSpPr>
          <a:xfrm rot="0">
            <a:off x="2626456" y="1500188"/>
            <a:ext cx="994563" cy="4634686"/>
            <a:chOff x="2626456" y="1500188"/>
            <a:chExt cx="994563" cy="4634686"/>
          </a:xfrm>
        </p:grpSpPr>
        <p:sp>
          <p:nvSpPr>
            <p:cNvPr id="4" name="AutoShape 4"/>
            <p:cNvSpPr/>
            <p:nvPr/>
          </p:nvSpPr>
          <p:spPr>
            <a:xfrm>
              <a:off x="3621019" y="1500188"/>
              <a:ext cx="0" cy="4633913"/>
            </a:xfrm>
            <a:prstGeom prst="line">
              <a:avLst/>
            </a:prstGeom>
            <a:ln w="3175">
              <a:solidFill>
                <a:srgbClr val="2F2F2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2626456" y="5219207"/>
              <a:ext cx="870506" cy="915667"/>
            </a:xfrm>
            <a:custGeom>
              <a:avLst/>
              <a:gdLst/>
              <a:ahLst/>
              <a:cxnLst/>
              <a:rect l="l" t="t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2F2F2F">
                <a:alpha val="14901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gradFill>
          <a:gsLst>
            <a:gs pos="0">
              <a:srgbClr val="FFFFFF">
                <a:alpha val="90196"/>
              </a:srgbClr>
            </a:gs>
            <a:gs pos="100000">
              <a:srgbClr val="065BF7">
                <a:alpha val="100000"/>
                <a:lumMod val="20000"/>
                <a:lumOff val="80000"/>
              </a:srgbClr>
            </a:gs>
          </a:gsLst>
          <a:lin ang="60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 amt="100000"/>
                <a:alphaModFix amt="100000"/>
              </a:blip>
              <a:stretch>
                <a:fillRect l="-24716" r="-8103" b="-34017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65BF7">
                    <a:alpha val="100000"/>
                    <a:lumMod val="5000"/>
                    <a:lumOff val="95000"/>
                  </a:srgbClr>
                </a:gs>
                <a:gs pos="60000">
                  <a:srgbClr val="FFFFFF">
                    <a:alpha val="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62000" y="5314950"/>
              <a:ext cx="10668000" cy="819149"/>
            </a:xfrm>
            <a:prstGeom prst="roundRect">
              <a:avLst>
                <a:gd name="adj" fmla="val 13280"/>
              </a:avLst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9485293" y="5508524"/>
            <a:ext cx="1440000" cy="432000"/>
            <a:chOff x="2265569" y="534464"/>
            <a:chExt cx="1440000" cy="432000"/>
          </a:xfrm>
        </p:grpSpPr>
        <p:sp>
          <p:nvSpPr>
            <p:cNvPr id="7" name="AutoShape 7"/>
            <p:cNvSpPr/>
            <p:nvPr/>
          </p:nvSpPr>
          <p:spPr>
            <a:xfrm>
              <a:off x="2265569" y="534464"/>
              <a:ext cx="1440000" cy="432000"/>
            </a:xfrm>
            <a:prstGeom prst="roundRect">
              <a:avLst>
                <a:gd name="adj" fmla="val 50000"/>
              </a:avLst>
            </a:prstGeom>
            <a:solidFill>
              <a:srgbClr val="4795FA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 rot="0">
              <a:off x="3273569" y="534464"/>
              <a:ext cx="432000" cy="432000"/>
              <a:chOff x="3809479" y="5424487"/>
              <a:chExt cx="519545" cy="519545"/>
            </a:xfrm>
            <a:gradFill>
              <a:gsLst>
                <a:gs pos="2999">
                  <a:srgbClr val="2F2F2F">
                    <a:alpha val="100000"/>
                  </a:srgbClr>
                </a:gs>
                <a:gs pos="100000">
                  <a:srgbClr val="065BF7">
                    <a:alpha val="100000"/>
                    <a:lumMod val="20000"/>
                    <a:lumOff val="80000"/>
                  </a:srgbClr>
                </a:gs>
              </a:gsLst>
              <a:lin ang="2700000"/>
            </a:gradFill>
          </p:grpSpPr>
          <p:sp>
            <p:nvSpPr>
              <p:cNvPr id="9" name="AutoShape 9"/>
              <p:cNvSpPr/>
              <p:nvPr/>
            </p:nvSpPr>
            <p:spPr>
              <a:xfrm>
                <a:off x="3809479" y="5424487"/>
                <a:ext cx="519545" cy="519545"/>
              </a:xfrm>
              <a:prstGeom prst="ellipse">
                <a:avLst/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 flipH="1">
                <a:off x="3944866" y="5558258"/>
                <a:ext cx="248771" cy="252000"/>
              </a:xfrm>
              <a:custGeom>
                <a:avLst/>
                <a:gdLst/>
                <a:ahLst/>
                <a:cxnLst/>
                <a:rect l="l" t="t" r="r" b="b"/>
                <a:pathLst>
                  <a:path w="13191" h="13382">
                    <a:moveTo>
                      <a:pt x="5626" y="12760"/>
                    </a:moveTo>
                    <a:lnTo>
                      <a:pt x="592" y="7719"/>
                    </a:lnTo>
                    <a:cubicBezTo>
                      <a:pt x="0" y="7126"/>
                      <a:pt x="0" y="6238"/>
                      <a:pt x="592" y="5647"/>
                    </a:cubicBezTo>
                    <a:lnTo>
                      <a:pt x="5626" y="616"/>
                    </a:lnTo>
                    <a:cubicBezTo>
                      <a:pt x="6216" y="26"/>
                      <a:pt x="7142" y="0"/>
                      <a:pt x="7728" y="587"/>
                    </a:cubicBezTo>
                    <a:cubicBezTo>
                      <a:pt x="8302" y="1160"/>
                      <a:pt x="8240" y="2127"/>
                      <a:pt x="7683" y="2683"/>
                    </a:cubicBezTo>
                    <a:lnTo>
                      <a:pt x="5225" y="5142"/>
                    </a:lnTo>
                    <a:cubicBezTo>
                      <a:pt x="5225" y="5142"/>
                      <a:pt x="11426" y="5150"/>
                      <a:pt x="11429" y="5150"/>
                    </a:cubicBezTo>
                    <a:cubicBezTo>
                      <a:pt x="11839" y="5150"/>
                      <a:pt x="12235" y="5310"/>
                      <a:pt x="12517" y="5608"/>
                    </a:cubicBezTo>
                    <a:cubicBezTo>
                      <a:pt x="13191" y="6328"/>
                      <a:pt x="13011" y="7588"/>
                      <a:pt x="12147" y="8067"/>
                    </a:cubicBezTo>
                    <a:cubicBezTo>
                      <a:pt x="11929" y="8188"/>
                      <a:pt x="11679" y="8252"/>
                      <a:pt x="11429" y="8251"/>
                    </a:cubicBezTo>
                    <a:lnTo>
                      <a:pt x="5225" y="8246"/>
                    </a:lnTo>
                    <a:cubicBezTo>
                      <a:pt x="5225" y="8246"/>
                      <a:pt x="7682" y="10702"/>
                      <a:pt x="7683" y="10703"/>
                    </a:cubicBezTo>
                    <a:cubicBezTo>
                      <a:pt x="8242" y="11262"/>
                      <a:pt x="8298" y="12224"/>
                      <a:pt x="7729" y="12795"/>
                    </a:cubicBezTo>
                    <a:cubicBezTo>
                      <a:pt x="7142" y="13382"/>
                      <a:pt x="6216" y="13351"/>
                      <a:pt x="5626" y="1276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7" Type="http://schemas.openxmlformats.org/officeDocument/2006/relationships/slideLayout" Target="../slideLayouts/slideLayout6.xml"/><Relationship Id="rId56" Type="http://schemas.openxmlformats.org/officeDocument/2006/relationships/tags" Target="../tags/tag69.xml"/><Relationship Id="rId55" Type="http://schemas.openxmlformats.org/officeDocument/2006/relationships/tags" Target="../tags/tag68.xml"/><Relationship Id="rId54" Type="http://schemas.openxmlformats.org/officeDocument/2006/relationships/tags" Target="../tags/tag67.xml"/><Relationship Id="rId53" Type="http://schemas.openxmlformats.org/officeDocument/2006/relationships/tags" Target="../tags/tag66.xml"/><Relationship Id="rId52" Type="http://schemas.openxmlformats.org/officeDocument/2006/relationships/tags" Target="../tags/tag65.xml"/><Relationship Id="rId51" Type="http://schemas.openxmlformats.org/officeDocument/2006/relationships/tags" Target="../tags/tag64.xml"/><Relationship Id="rId50" Type="http://schemas.openxmlformats.org/officeDocument/2006/relationships/tags" Target="../tags/tag63.xml"/><Relationship Id="rId5" Type="http://schemas.openxmlformats.org/officeDocument/2006/relationships/tags" Target="../tags/tag18.xml"/><Relationship Id="rId49" Type="http://schemas.openxmlformats.org/officeDocument/2006/relationships/tags" Target="../tags/tag62.xml"/><Relationship Id="rId48" Type="http://schemas.openxmlformats.org/officeDocument/2006/relationships/tags" Target="../tags/tag61.xml"/><Relationship Id="rId47" Type="http://schemas.openxmlformats.org/officeDocument/2006/relationships/tags" Target="../tags/tag60.xml"/><Relationship Id="rId46" Type="http://schemas.openxmlformats.org/officeDocument/2006/relationships/tags" Target="../tags/tag59.xml"/><Relationship Id="rId45" Type="http://schemas.openxmlformats.org/officeDocument/2006/relationships/tags" Target="../tags/tag58.xml"/><Relationship Id="rId44" Type="http://schemas.openxmlformats.org/officeDocument/2006/relationships/tags" Target="../tags/tag57.xml"/><Relationship Id="rId43" Type="http://schemas.openxmlformats.org/officeDocument/2006/relationships/tags" Target="../tags/tag56.xml"/><Relationship Id="rId42" Type="http://schemas.openxmlformats.org/officeDocument/2006/relationships/tags" Target="../tags/tag55.xml"/><Relationship Id="rId41" Type="http://schemas.openxmlformats.org/officeDocument/2006/relationships/tags" Target="../tags/tag54.xml"/><Relationship Id="rId40" Type="http://schemas.openxmlformats.org/officeDocument/2006/relationships/tags" Target="../tags/tag53.xml"/><Relationship Id="rId4" Type="http://schemas.openxmlformats.org/officeDocument/2006/relationships/tags" Target="../tags/tag17.xml"/><Relationship Id="rId39" Type="http://schemas.openxmlformats.org/officeDocument/2006/relationships/tags" Target="../tags/tag52.xml"/><Relationship Id="rId38" Type="http://schemas.openxmlformats.org/officeDocument/2006/relationships/tags" Target="../tags/tag51.xml"/><Relationship Id="rId37" Type="http://schemas.openxmlformats.org/officeDocument/2006/relationships/tags" Target="../tags/tag50.xml"/><Relationship Id="rId36" Type="http://schemas.openxmlformats.org/officeDocument/2006/relationships/tags" Target="../tags/tag49.xml"/><Relationship Id="rId35" Type="http://schemas.openxmlformats.org/officeDocument/2006/relationships/tags" Target="../tags/tag48.xml"/><Relationship Id="rId34" Type="http://schemas.openxmlformats.org/officeDocument/2006/relationships/tags" Target="../tags/tag47.xml"/><Relationship Id="rId33" Type="http://schemas.openxmlformats.org/officeDocument/2006/relationships/tags" Target="../tags/tag46.xml"/><Relationship Id="rId32" Type="http://schemas.openxmlformats.org/officeDocument/2006/relationships/tags" Target="../tags/tag45.xml"/><Relationship Id="rId31" Type="http://schemas.openxmlformats.org/officeDocument/2006/relationships/tags" Target="../tags/tag44.xml"/><Relationship Id="rId30" Type="http://schemas.openxmlformats.org/officeDocument/2006/relationships/tags" Target="../tags/tag43.xml"/><Relationship Id="rId3" Type="http://schemas.openxmlformats.org/officeDocument/2006/relationships/tags" Target="../tags/tag16.xml"/><Relationship Id="rId29" Type="http://schemas.openxmlformats.org/officeDocument/2006/relationships/tags" Target="../tags/tag42.xml"/><Relationship Id="rId28" Type="http://schemas.openxmlformats.org/officeDocument/2006/relationships/tags" Target="../tags/tag41.xml"/><Relationship Id="rId27" Type="http://schemas.openxmlformats.org/officeDocument/2006/relationships/tags" Target="../tags/tag40.xml"/><Relationship Id="rId26" Type="http://schemas.openxmlformats.org/officeDocument/2006/relationships/tags" Target="../tags/tag39.xml"/><Relationship Id="rId25" Type="http://schemas.openxmlformats.org/officeDocument/2006/relationships/tags" Target="../tags/tag38.xml"/><Relationship Id="rId24" Type="http://schemas.openxmlformats.org/officeDocument/2006/relationships/tags" Target="../tags/tag37.xml"/><Relationship Id="rId23" Type="http://schemas.openxmlformats.org/officeDocument/2006/relationships/tags" Target="../tags/tag36.xml"/><Relationship Id="rId22" Type="http://schemas.openxmlformats.org/officeDocument/2006/relationships/tags" Target="../tags/tag35.xml"/><Relationship Id="rId21" Type="http://schemas.openxmlformats.org/officeDocument/2006/relationships/tags" Target="../tags/tag34.xml"/><Relationship Id="rId20" Type="http://schemas.openxmlformats.org/officeDocument/2006/relationships/tags" Target="../tags/tag33.xml"/><Relationship Id="rId2" Type="http://schemas.openxmlformats.org/officeDocument/2006/relationships/tags" Target="../tags/tag15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9" Type="http://schemas.openxmlformats.org/officeDocument/2006/relationships/slideLayout" Target="../slideLayouts/slideLayout6.xml"/><Relationship Id="rId58" Type="http://schemas.openxmlformats.org/officeDocument/2006/relationships/tags" Target="../tags/tag127.xml"/><Relationship Id="rId57" Type="http://schemas.openxmlformats.org/officeDocument/2006/relationships/tags" Target="../tags/tag126.xml"/><Relationship Id="rId56" Type="http://schemas.openxmlformats.org/officeDocument/2006/relationships/tags" Target="../tags/tag125.xml"/><Relationship Id="rId55" Type="http://schemas.openxmlformats.org/officeDocument/2006/relationships/tags" Target="../tags/tag124.xml"/><Relationship Id="rId54" Type="http://schemas.openxmlformats.org/officeDocument/2006/relationships/tags" Target="../tags/tag123.xml"/><Relationship Id="rId53" Type="http://schemas.openxmlformats.org/officeDocument/2006/relationships/tags" Target="../tags/tag122.xml"/><Relationship Id="rId52" Type="http://schemas.openxmlformats.org/officeDocument/2006/relationships/tags" Target="../tags/tag121.xml"/><Relationship Id="rId51" Type="http://schemas.openxmlformats.org/officeDocument/2006/relationships/tags" Target="../tags/tag120.xml"/><Relationship Id="rId50" Type="http://schemas.openxmlformats.org/officeDocument/2006/relationships/tags" Target="../tags/tag119.xml"/><Relationship Id="rId5" Type="http://schemas.openxmlformats.org/officeDocument/2006/relationships/tags" Target="../tags/tag74.xml"/><Relationship Id="rId49" Type="http://schemas.openxmlformats.org/officeDocument/2006/relationships/tags" Target="../tags/tag118.xml"/><Relationship Id="rId48" Type="http://schemas.openxmlformats.org/officeDocument/2006/relationships/tags" Target="../tags/tag117.xml"/><Relationship Id="rId47" Type="http://schemas.openxmlformats.org/officeDocument/2006/relationships/tags" Target="../tags/tag116.xml"/><Relationship Id="rId46" Type="http://schemas.openxmlformats.org/officeDocument/2006/relationships/tags" Target="../tags/tag115.xml"/><Relationship Id="rId45" Type="http://schemas.openxmlformats.org/officeDocument/2006/relationships/tags" Target="../tags/tag114.xml"/><Relationship Id="rId44" Type="http://schemas.openxmlformats.org/officeDocument/2006/relationships/tags" Target="../tags/tag113.xml"/><Relationship Id="rId43" Type="http://schemas.openxmlformats.org/officeDocument/2006/relationships/tags" Target="../tags/tag112.xml"/><Relationship Id="rId42" Type="http://schemas.openxmlformats.org/officeDocument/2006/relationships/tags" Target="../tags/tag111.xml"/><Relationship Id="rId41" Type="http://schemas.openxmlformats.org/officeDocument/2006/relationships/tags" Target="../tags/tag110.xml"/><Relationship Id="rId40" Type="http://schemas.openxmlformats.org/officeDocument/2006/relationships/tags" Target="../tags/tag109.xml"/><Relationship Id="rId4" Type="http://schemas.openxmlformats.org/officeDocument/2006/relationships/tags" Target="../tags/tag73.xml"/><Relationship Id="rId39" Type="http://schemas.openxmlformats.org/officeDocument/2006/relationships/tags" Target="../tags/tag108.xml"/><Relationship Id="rId38" Type="http://schemas.openxmlformats.org/officeDocument/2006/relationships/tags" Target="../tags/tag107.xml"/><Relationship Id="rId37" Type="http://schemas.openxmlformats.org/officeDocument/2006/relationships/tags" Target="../tags/tag106.xml"/><Relationship Id="rId36" Type="http://schemas.openxmlformats.org/officeDocument/2006/relationships/tags" Target="../tags/tag105.xml"/><Relationship Id="rId35" Type="http://schemas.openxmlformats.org/officeDocument/2006/relationships/tags" Target="../tags/tag104.xml"/><Relationship Id="rId34" Type="http://schemas.openxmlformats.org/officeDocument/2006/relationships/tags" Target="../tags/tag103.xml"/><Relationship Id="rId33" Type="http://schemas.openxmlformats.org/officeDocument/2006/relationships/tags" Target="../tags/tag102.xml"/><Relationship Id="rId32" Type="http://schemas.openxmlformats.org/officeDocument/2006/relationships/tags" Target="../tags/tag101.xml"/><Relationship Id="rId31" Type="http://schemas.openxmlformats.org/officeDocument/2006/relationships/tags" Target="../tags/tag100.xml"/><Relationship Id="rId30" Type="http://schemas.openxmlformats.org/officeDocument/2006/relationships/tags" Target="../tags/tag99.xml"/><Relationship Id="rId3" Type="http://schemas.openxmlformats.org/officeDocument/2006/relationships/tags" Target="../tags/tag72.xml"/><Relationship Id="rId29" Type="http://schemas.openxmlformats.org/officeDocument/2006/relationships/tags" Target="../tags/tag98.xml"/><Relationship Id="rId28" Type="http://schemas.openxmlformats.org/officeDocument/2006/relationships/tags" Target="../tags/tag97.xml"/><Relationship Id="rId27" Type="http://schemas.openxmlformats.org/officeDocument/2006/relationships/tags" Target="../tags/tag96.xml"/><Relationship Id="rId26" Type="http://schemas.openxmlformats.org/officeDocument/2006/relationships/tags" Target="../tags/tag9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1524000"/>
            <a:ext cx="10858500" cy="90297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>
                <a:ln w="19050"/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柔性织物压力传感</a:t>
            </a:r>
            <a:r>
              <a:rPr lang="zh-CN" altLang="en-US" sz="4000" b="1" i="0">
                <a:ln w="19050"/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技术商业决策</a:t>
            </a:r>
            <a:r>
              <a:rPr lang="zh-CN" altLang="en-US" sz="4000" b="1" i="0">
                <a:ln w="19050"/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</a:t>
            </a:r>
            <a:endParaRPr lang="zh-CN" altLang="en-US" sz="4000" b="1" i="0">
              <a:ln w="19050"/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886200" y="2667000"/>
            <a:ext cx="4318635" cy="370205"/>
          </a:xfrm>
          <a:prstGeom prst="roundRect">
            <a:avLst>
              <a:gd name="adj" fmla="val 0"/>
            </a:avLst>
          </a:prstGeom>
          <a:gradFill>
            <a:gsLst>
              <a:gs pos="93000">
                <a:srgbClr val="2778F9">
                  <a:alpha val="100000"/>
                </a:srgbClr>
              </a:gs>
              <a:gs pos="0">
                <a:srgbClr val="065BF7">
                  <a:alpha val="0"/>
                </a:srgbClr>
              </a:gs>
              <a:gs pos="100000">
                <a:srgbClr val="4795FA">
                  <a:alpha val="15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headEnd type="none"/>
            <a:tailEnd type="none"/>
          </a:ln>
          <a:effectLst>
            <a:outerShdw blurRad="50800" dist="50800" dir="5400000" algn="ctr" rotWithShape="0">
              <a:schemeClr val="accent1">
                <a:lumMod val="40000"/>
                <a:lumOff val="60000"/>
                <a:alpha val="100000"/>
              </a:schemeClr>
            </a:outerShdw>
            <a:softEdge rad="12700"/>
          </a:effectLst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明确市场</a:t>
            </a:r>
            <a:r>
              <a:rPr lang="zh-CN" altLang="en-US" sz="2000" b="0" i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路径、行业方向和商业模式</a:t>
            </a:r>
            <a:endParaRPr lang="zh-CN" altLang="en-US" sz="2000" b="0" i="0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514600" y="5562600"/>
            <a:ext cx="1321435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4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报告人:</a:t>
            </a:r>
            <a:r>
              <a:rPr lang="zh-CN" altLang="en-US" sz="14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马丹杰</a:t>
            </a:r>
            <a:endParaRPr lang="zh-CN" altLang="en-US" sz="1400" b="0" i="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19200" y="5562600"/>
            <a:ext cx="1211580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4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</a:t>
            </a:r>
            <a:r>
              <a:rPr lang="en-US" sz="14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01-22</a:t>
            </a:r>
            <a:endParaRPr lang="en-US" sz="1400"/>
          </a:p>
        </p:txBody>
      </p:sp>
      <p:sp>
        <p:nvSpPr>
          <p:cNvPr id="6" name="TextBox 4"/>
          <p:cNvSpPr txBox="1"/>
          <p:nvPr/>
        </p:nvSpPr>
        <p:spPr>
          <a:xfrm>
            <a:off x="3886200" y="5562600"/>
            <a:ext cx="1517015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14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</a:t>
            </a:r>
            <a:r>
              <a:rPr lang="zh-CN" altLang="en-US" sz="14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状态：</a:t>
            </a:r>
            <a:r>
              <a:rPr lang="zh-CN" altLang="en-US" sz="1400" b="0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初稿</a:t>
            </a:r>
            <a:endParaRPr lang="zh-CN" altLang="en-US" sz="1400" b="0" i="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>
            <p:custDataLst>
              <p:tags r:id="rId1"/>
            </p:custDataLst>
          </p:nvPr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65BF7">
                    <a:alpha val="0"/>
                  </a:srgbClr>
                </a:gs>
                <a:gs pos="100000">
                  <a:srgbClr val="4795FA">
                    <a:alpha val="14901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0" y="0"/>
              <a:ext cx="2329359" cy="3297479"/>
            </a:xfrm>
            <a:custGeom>
              <a:avLst/>
              <a:gdLst/>
              <a:ahLst/>
              <a:cxnLst/>
              <a:rect l="l" t="t" r="r" b="b"/>
              <a:pathLst>
                <a:path w="2242556" h="3174599">
                  <a:moveTo>
                    <a:pt x="229453" y="0"/>
                  </a:moveTo>
                  <a:lnTo>
                    <a:pt x="2242556" y="0"/>
                  </a:lnTo>
                  <a:lnTo>
                    <a:pt x="2242556" y="3172485"/>
                  </a:lnTo>
                  <a:lnTo>
                    <a:pt x="2200681" y="3174599"/>
                  </a:lnTo>
                  <a:cubicBezTo>
                    <a:pt x="985278" y="3174599"/>
                    <a:pt x="0" y="2189321"/>
                    <a:pt x="0" y="973918"/>
                  </a:cubicBezTo>
                  <a:cubicBezTo>
                    <a:pt x="0" y="670067"/>
                    <a:pt x="61580" y="380599"/>
                    <a:pt x="172940" y="117314"/>
                  </a:cubicBezTo>
                  <a:close/>
                </a:path>
              </a:pathLst>
            </a:custGeom>
            <a:gradFill>
              <a:gsLst>
                <a:gs pos="5999">
                  <a:srgbClr val="065BF7">
                    <a:alpha val="27058"/>
                  </a:srgbClr>
                </a:gs>
                <a:gs pos="79000">
                  <a:srgbClr val="4795FA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8857364" y="3743204"/>
              <a:ext cx="3334636" cy="3114796"/>
            </a:xfrm>
            <a:custGeom>
              <a:avLst/>
              <a:gdLst/>
              <a:ahLst/>
              <a:cxnLst/>
              <a:rect l="l" t="t" r="r" b="b"/>
              <a:pathLst>
                <a:path w="3039282" h="2838914">
                  <a:moveTo>
                    <a:pt x="2147637" y="0"/>
                  </a:moveTo>
                  <a:cubicBezTo>
                    <a:pt x="2444164" y="0"/>
                    <a:pt x="2726654" y="62026"/>
                    <a:pt x="2983594" y="174193"/>
                  </a:cubicBezTo>
                  <a:lnTo>
                    <a:pt x="3039282" y="201881"/>
                  </a:lnTo>
                  <a:lnTo>
                    <a:pt x="3039282" y="2838914"/>
                  </a:lnTo>
                  <a:lnTo>
                    <a:pt x="87372" y="2838914"/>
                  </a:lnTo>
                  <a:lnTo>
                    <a:pt x="43632" y="2663339"/>
                  </a:lnTo>
                  <a:cubicBezTo>
                    <a:pt x="15024" y="2519043"/>
                    <a:pt x="0" y="2369640"/>
                    <a:pt x="0" y="2216614"/>
                  </a:cubicBezTo>
                  <a:cubicBezTo>
                    <a:pt x="0" y="992412"/>
                    <a:pt x="961530" y="0"/>
                    <a:pt x="2147637" y="0"/>
                  </a:cubicBezTo>
                  <a:close/>
                </a:path>
              </a:pathLst>
            </a:custGeom>
            <a:gradFill>
              <a:gsLst>
                <a:gs pos="5999">
                  <a:srgbClr val="065BF7">
                    <a:alpha val="27058"/>
                  </a:srgbClr>
                </a:gs>
                <a:gs pos="79000">
                  <a:srgbClr val="4795FA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660400" y="1130300"/>
              <a:ext cx="10858500" cy="990876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>
              <p:custDataLst>
                <p:tags r:id="rId2"/>
              </p:custDataLst>
            </p:nvPr>
          </p:nvSpPr>
          <p:spPr>
            <a:xfrm>
              <a:off x="2279626" y="2339354"/>
              <a:ext cx="2133660" cy="2133658"/>
            </a:xfrm>
            <a:prstGeom prst="arc">
              <a:avLst>
                <a:gd name="adj1" fmla="val 10773996"/>
                <a:gd name="adj2" fmla="val 0"/>
              </a:avLst>
            </a:prstGeom>
            <a:ln w="12700">
              <a:gradFill>
                <a:gsLst>
                  <a:gs pos="0">
                    <a:srgbClr val="065BF7">
                      <a:alpha val="100000"/>
                    </a:srgbClr>
                  </a:gs>
                  <a:gs pos="50000">
                    <a:srgbClr val="4795FA">
                      <a:alpha val="100000"/>
                    </a:srgbClr>
                  </a:gs>
                  <a:gs pos="100000">
                    <a:srgbClr val="065BF7">
                      <a:alpha val="100000"/>
                    </a:srgbClr>
                  </a:gs>
                </a:gsLst>
                <a:lin ang="5400000"/>
              </a:gradFill>
              <a:prstDash val="solid"/>
              <a:headEnd type="oval"/>
              <a:tailEnd type="oval"/>
            </a:ln>
          </p:spPr>
        </p:sp>
        <p:grpSp>
          <p:nvGrpSpPr>
            <p:cNvPr id="8" name="Group 8"/>
            <p:cNvGrpSpPr/>
            <p:nvPr/>
          </p:nvGrpSpPr>
          <p:grpSpPr>
            <a:xfrm rot="0">
              <a:off x="2049780" y="2542555"/>
              <a:ext cx="2593340" cy="2797810"/>
              <a:chOff x="2049780" y="2542555"/>
              <a:chExt cx="2593340" cy="2797810"/>
            </a:xfrm>
          </p:grpSpPr>
          <p:sp>
            <p:nvSpPr>
              <p:cNvPr id="9" name="TextBox 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582041" y="2641767"/>
                <a:ext cx="1528831" cy="1528830"/>
              </a:xfrm>
              <a:prstGeom prst="ellipse">
                <a:avLst/>
              </a:prstGeom>
              <a:gradFill>
                <a:gsLst>
                  <a:gs pos="31000">
                    <a:srgbClr val="065BF7">
                      <a:alpha val="100000"/>
                    </a:srgbClr>
                  </a:gs>
                  <a:gs pos="87999">
                    <a:srgbClr val="4795FA">
                      <a:alpha val="100000"/>
                      <a:lumMod val="40000"/>
                      <a:lumOff val="60000"/>
                    </a:srgbClr>
                  </a:gs>
                </a:gsLst>
                <a:lin ang="135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800" b="1" i="1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10" name="AutoShape 10"/>
              <p:cNvSpPr/>
              <p:nvPr>
                <p:custDataLst>
                  <p:tags r:id="rId4"/>
                </p:custDataLst>
              </p:nvPr>
            </p:nvSpPr>
            <p:spPr>
              <a:xfrm>
                <a:off x="2482826" y="2542555"/>
                <a:ext cx="1727260" cy="1727258"/>
              </a:xfrm>
              <a:prstGeom prst="ellipse">
                <a:avLst/>
              </a:prstGeom>
              <a:ln w="12700">
                <a:gradFill>
                  <a:gsLst>
                    <a:gs pos="0">
                      <a:srgbClr val="065BF7">
                        <a:alpha val="0"/>
                      </a:srgbClr>
                    </a:gs>
                    <a:gs pos="100000">
                      <a:srgbClr val="065BF7">
                        <a:alpha val="52156"/>
                      </a:srgbClr>
                    </a:gs>
                  </a:gsLst>
                  <a:lin ang="5400000"/>
                </a:gra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049780" y="4419615"/>
                <a:ext cx="2593340" cy="9207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市场路径</a:t>
                </a:r>
                <a:br>
                  <a:rPr lang="zh-CN" alt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</a:br>
                <a:endParaRPr lang="zh-CN" altLang="en-US" sz="18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00000"/>
                  </a:lnSpc>
                  <a:defRPr/>
                </a:pPr>
                <a:r>
                  <a:rPr lang="en-US" b="1">
                    <a:solidFill>
                      <a:srgbClr val="00B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+mn-ea"/>
                  </a:rPr>
                  <a:t> </a:t>
                </a:r>
                <a:r>
                  <a:rPr lang="en-US" sz="1600" b="1">
                    <a:solidFill>
                      <a:srgbClr val="00B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+mn-ea"/>
                  </a:rPr>
                  <a:t>ToB为主，ToG为辅</a:t>
                </a:r>
                <a:endParaRPr lang="en-US" altLang="en-US" sz="1600" b="1" i="0">
                  <a:solidFill>
                    <a:srgbClr val="00B05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endParaRP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533400" y="15271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2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lang="zh-CN" altLang="en-US" sz="3200" b="1" i="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7"/>
          <p:cNvSpPr/>
          <p:nvPr>
            <p:custDataLst>
              <p:tags r:id="rId6"/>
            </p:custDataLst>
          </p:nvPr>
        </p:nvSpPr>
        <p:spPr>
          <a:xfrm>
            <a:off x="5488916" y="2306334"/>
            <a:ext cx="2133660" cy="2133658"/>
          </a:xfrm>
          <a:prstGeom prst="arc">
            <a:avLst>
              <a:gd name="adj1" fmla="val 10773996"/>
              <a:gd name="adj2" fmla="val 0"/>
            </a:avLst>
          </a:prstGeom>
          <a:ln w="12700">
            <a:gradFill>
              <a:gsLst>
                <a:gs pos="0">
                  <a:srgbClr val="065BF7">
                    <a:alpha val="100000"/>
                  </a:srgbClr>
                </a:gs>
                <a:gs pos="50000">
                  <a:srgbClr val="4795FA">
                    <a:alpha val="100000"/>
                  </a:srgbClr>
                </a:gs>
                <a:gs pos="100000">
                  <a:srgbClr val="065BF7">
                    <a:alpha val="100000"/>
                  </a:srgbClr>
                </a:gs>
              </a:gsLst>
              <a:lin ang="5400000"/>
            </a:gradFill>
            <a:prstDash val="solid"/>
            <a:headEnd type="oval"/>
            <a:tailEnd type="oval"/>
          </a:ln>
        </p:spPr>
      </p:sp>
      <p:sp>
        <p:nvSpPr>
          <p:cNvPr id="19" name="TextBox 9"/>
          <p:cNvSpPr txBox="1"/>
          <p:nvPr>
            <p:custDataLst>
              <p:tags r:id="rId7"/>
            </p:custDataLst>
          </p:nvPr>
        </p:nvSpPr>
        <p:spPr>
          <a:xfrm>
            <a:off x="5791331" y="2608747"/>
            <a:ext cx="1528831" cy="1528830"/>
          </a:xfrm>
          <a:prstGeom prst="ellipse">
            <a:avLst/>
          </a:prstGeom>
          <a:gradFill>
            <a:gsLst>
              <a:gs pos="31000">
                <a:srgbClr val="065BF7">
                  <a:alpha val="100000"/>
                </a:srgbClr>
              </a:gs>
              <a:gs pos="87999">
                <a:srgbClr val="4795FA">
                  <a:alpha val="100000"/>
                  <a:lumMod val="40000"/>
                  <a:lumOff val="60000"/>
                </a:srgbClr>
              </a:gs>
            </a:gsLst>
            <a:lin ang="13500000"/>
          </a:gradFill>
          <a:ln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2800" b="1" i="1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en-US" sz="1100"/>
          </a:p>
        </p:txBody>
      </p:sp>
      <p:sp>
        <p:nvSpPr>
          <p:cNvPr id="20" name="AutoShape 10"/>
          <p:cNvSpPr/>
          <p:nvPr>
            <p:custDataLst>
              <p:tags r:id="rId8"/>
            </p:custDataLst>
          </p:nvPr>
        </p:nvSpPr>
        <p:spPr>
          <a:xfrm>
            <a:off x="5692116" y="2509535"/>
            <a:ext cx="1727260" cy="1727258"/>
          </a:xfrm>
          <a:prstGeom prst="ellipse">
            <a:avLst/>
          </a:prstGeom>
          <a:ln w="12700">
            <a:gradFill>
              <a:gsLst>
                <a:gs pos="0">
                  <a:srgbClr val="065BF7">
                    <a:alpha val="0"/>
                  </a:srgbClr>
                </a:gs>
                <a:gs pos="100000">
                  <a:srgbClr val="065BF7">
                    <a:alpha val="52156"/>
                  </a:srgbClr>
                </a:gs>
              </a:gsLst>
              <a:lin ang="5400000"/>
            </a:gradFill>
            <a:prstDash val="solid"/>
            <a:headEnd type="none"/>
            <a:tailEnd type="none"/>
          </a:ln>
        </p:spPr>
      </p:sp>
      <p:sp>
        <p:nvSpPr>
          <p:cNvPr id="22" name="AutoShape 7"/>
          <p:cNvSpPr/>
          <p:nvPr>
            <p:custDataLst>
              <p:tags r:id="rId9"/>
            </p:custDataLst>
          </p:nvPr>
        </p:nvSpPr>
        <p:spPr>
          <a:xfrm>
            <a:off x="8559776" y="2275854"/>
            <a:ext cx="2133660" cy="2133658"/>
          </a:xfrm>
          <a:prstGeom prst="arc">
            <a:avLst>
              <a:gd name="adj1" fmla="val 10773996"/>
              <a:gd name="adj2" fmla="val 0"/>
            </a:avLst>
          </a:prstGeom>
          <a:ln w="12700">
            <a:gradFill>
              <a:gsLst>
                <a:gs pos="0">
                  <a:srgbClr val="065BF7">
                    <a:alpha val="100000"/>
                  </a:srgbClr>
                </a:gs>
                <a:gs pos="50000">
                  <a:srgbClr val="4795FA">
                    <a:alpha val="100000"/>
                  </a:srgbClr>
                </a:gs>
                <a:gs pos="100000">
                  <a:srgbClr val="065BF7">
                    <a:alpha val="100000"/>
                  </a:srgbClr>
                </a:gs>
              </a:gsLst>
              <a:lin ang="5400000"/>
            </a:gradFill>
            <a:prstDash val="solid"/>
            <a:headEnd type="oval"/>
            <a:tailEnd type="oval"/>
          </a:ln>
        </p:spPr>
      </p:sp>
      <p:sp>
        <p:nvSpPr>
          <p:cNvPr id="23" name="TextBox 9"/>
          <p:cNvSpPr txBox="1"/>
          <p:nvPr>
            <p:custDataLst>
              <p:tags r:id="rId10"/>
            </p:custDataLst>
          </p:nvPr>
        </p:nvSpPr>
        <p:spPr>
          <a:xfrm>
            <a:off x="8862191" y="2578267"/>
            <a:ext cx="1528831" cy="1528830"/>
          </a:xfrm>
          <a:prstGeom prst="ellipse">
            <a:avLst/>
          </a:prstGeom>
          <a:gradFill>
            <a:gsLst>
              <a:gs pos="31000">
                <a:srgbClr val="065BF7">
                  <a:alpha val="100000"/>
                </a:srgbClr>
              </a:gs>
              <a:gs pos="87999">
                <a:srgbClr val="4795FA">
                  <a:alpha val="100000"/>
                  <a:lumMod val="40000"/>
                  <a:lumOff val="60000"/>
                </a:srgbClr>
              </a:gs>
            </a:gsLst>
            <a:lin ang="13500000"/>
          </a:gradFill>
          <a:ln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2800" b="1" i="1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  <p:sp>
        <p:nvSpPr>
          <p:cNvPr id="24" name="AutoShape 10"/>
          <p:cNvSpPr/>
          <p:nvPr>
            <p:custDataLst>
              <p:tags r:id="rId11"/>
            </p:custDataLst>
          </p:nvPr>
        </p:nvSpPr>
        <p:spPr>
          <a:xfrm>
            <a:off x="8762976" y="2479055"/>
            <a:ext cx="1727260" cy="1727258"/>
          </a:xfrm>
          <a:prstGeom prst="ellipse">
            <a:avLst/>
          </a:prstGeom>
          <a:ln w="12700">
            <a:gradFill>
              <a:gsLst>
                <a:gs pos="0">
                  <a:srgbClr val="065BF7">
                    <a:alpha val="0"/>
                  </a:srgbClr>
                </a:gs>
                <a:gs pos="100000">
                  <a:srgbClr val="065BF7">
                    <a:alpha val="52156"/>
                  </a:srgbClr>
                </a:gs>
              </a:gsLst>
              <a:lin ang="5400000"/>
            </a:gradFill>
            <a:prstDash val="solid"/>
            <a:headEnd type="none"/>
            <a:tailEnd type="none"/>
          </a:ln>
        </p:spPr>
      </p:sp>
      <p:sp>
        <p:nvSpPr>
          <p:cNvPr id="25" name="TextBox 11"/>
          <p:cNvSpPr txBox="1"/>
          <p:nvPr>
            <p:custDataLst>
              <p:tags r:id="rId12"/>
            </p:custDataLst>
          </p:nvPr>
        </p:nvSpPr>
        <p:spPr>
          <a:xfrm>
            <a:off x="8305800" y="4419600"/>
            <a:ext cx="2761615" cy="154051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defRPr/>
            </a:pPr>
            <a:r>
              <a:rPr lang="zh-CN" altLang="en-US" sz="1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</a:t>
            </a:r>
            <a:r>
              <a:rPr lang="zh-CN" altLang="en-US" sz="1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</a:t>
            </a:r>
            <a:endParaRPr lang="zh-CN" altLang="en-US" sz="1800" b="1" i="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defRPr/>
            </a:pPr>
            <a:endParaRPr lang="zh-CN" altLang="en-US" sz="1800" b="1" i="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defRPr/>
            </a:pPr>
            <a:r>
              <a:rPr lang="zh-CN" altLang="en-US" sz="1600" b="1" i="0">
                <a:solidFill>
                  <a:srgbClr val="00B05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</a:t>
            </a:r>
            <a:r>
              <a:rPr lang="en-US" altLang="zh-CN" sz="1600" b="1" i="0">
                <a:solidFill>
                  <a:srgbClr val="00B05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lang="zh-CN" altLang="en-US" sz="1600" b="1" i="0">
                <a:solidFill>
                  <a:srgbClr val="00B05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项目服务驱动产品化”作为核心商业模式</a:t>
            </a:r>
            <a:endParaRPr lang="zh-CN" altLang="en-US" sz="1600" b="1" i="0">
              <a:solidFill>
                <a:srgbClr val="00B050">
                  <a:alpha val="100000"/>
                </a:srgb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TextBox 11"/>
          <p:cNvSpPr txBox="1"/>
          <p:nvPr>
            <p:custDataLst>
              <p:tags r:id="rId13"/>
            </p:custDataLst>
          </p:nvPr>
        </p:nvSpPr>
        <p:spPr>
          <a:xfrm>
            <a:off x="5376545" y="4419600"/>
            <a:ext cx="2511425" cy="184594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defRPr/>
            </a:pPr>
            <a:r>
              <a:rPr lang="zh-CN" altLang="en-US" sz="1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</a:t>
            </a:r>
            <a:r>
              <a:rPr lang="zh-CN" altLang="en-US" sz="1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</a:t>
            </a:r>
            <a:br>
              <a:rPr lang="zh-CN" altLang="en-US" sz="1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1800" b="1" i="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00B05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600" b="1">
                <a:solidFill>
                  <a:srgbClr val="00B05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聚焦科研教育</a:t>
            </a:r>
            <a:r>
              <a:rPr lang="en-US" altLang="zh-CN" sz="1600" b="1">
                <a:solidFill>
                  <a:srgbClr val="00B05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600" b="1">
                <a:solidFill>
                  <a:srgbClr val="00B05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、智能制造（工业检测）行业，并长期布局机器人电子皮肤和医疗康复、汽车座椅</a:t>
            </a:r>
            <a:r>
              <a:rPr lang="zh-CN" altLang="en-US" sz="1600" b="1">
                <a:solidFill>
                  <a:srgbClr val="00B05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等高价值</a:t>
            </a:r>
            <a:r>
              <a:rPr lang="zh-CN" altLang="en-US" sz="1600" b="1">
                <a:solidFill>
                  <a:srgbClr val="00B050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赛道</a:t>
            </a:r>
            <a:endParaRPr lang="zh-CN" altLang="en-US" sz="1600" b="1">
              <a:solidFill>
                <a:srgbClr val="00B050">
                  <a:alpha val="100000"/>
                </a:srgb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AutoShape 25"/>
          <p:cNvSpPr/>
          <p:nvPr>
            <p:custDataLst>
              <p:tags r:id="rId1"/>
            </p:custDataLst>
          </p:nvPr>
        </p:nvSpPr>
        <p:spPr>
          <a:xfrm>
            <a:off x="4724400" y="2863215"/>
            <a:ext cx="1332230" cy="991235"/>
          </a:xfrm>
          <a:prstGeom prst="roundRect">
            <a:avLst>
              <a:gd name="adj" fmla="val 1413"/>
            </a:avLst>
          </a:prstGeom>
          <a:solidFill>
            <a:srgbClr val="065BF7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50" name="AutoShape 25"/>
          <p:cNvSpPr/>
          <p:nvPr>
            <p:custDataLst>
              <p:tags r:id="rId2"/>
            </p:custDataLst>
          </p:nvPr>
        </p:nvSpPr>
        <p:spPr>
          <a:xfrm>
            <a:off x="4749165" y="2072640"/>
            <a:ext cx="1332230" cy="530225"/>
          </a:xfrm>
          <a:prstGeom prst="roundRect">
            <a:avLst>
              <a:gd name="adj" fmla="val 1413"/>
            </a:avLst>
          </a:prstGeom>
          <a:solidFill>
            <a:srgbClr val="065BF7">
              <a:alpha val="14901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51" name="Group 2"/>
          <p:cNvGrpSpPr/>
          <p:nvPr>
            <p:custDataLst>
              <p:tags r:id="rId3"/>
            </p:custDataLst>
          </p:nvPr>
        </p:nvGrpSpPr>
        <p:grpSpPr>
          <a:xfrm rot="0">
            <a:off x="646430" y="2863215"/>
            <a:ext cx="10858500" cy="994014"/>
            <a:chOff x="660400" y="2440673"/>
            <a:chExt cx="10858778" cy="691146"/>
          </a:xfrm>
        </p:grpSpPr>
        <p:sp>
          <p:nvSpPr>
            <p:cNvPr id="54" name="AutoShape 5"/>
            <p:cNvSpPr/>
            <p:nvPr>
              <p:custDataLst>
                <p:tags r:id="rId4"/>
              </p:custDataLst>
            </p:nvPr>
          </p:nvSpPr>
          <p:spPr>
            <a:xfrm>
              <a:off x="660400" y="2440673"/>
              <a:ext cx="1332230" cy="68961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7" name="AutoShape 10"/>
            <p:cNvSpPr/>
            <p:nvPr>
              <p:custDataLst>
                <p:tags r:id="rId5"/>
              </p:custDataLst>
            </p:nvPr>
          </p:nvSpPr>
          <p:spPr>
            <a:xfrm>
              <a:off x="2020676" y="2440939"/>
              <a:ext cx="1332230" cy="690245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0" name="AutoShape 15"/>
            <p:cNvSpPr/>
            <p:nvPr>
              <p:custDataLst>
                <p:tags r:id="rId6"/>
              </p:custDataLst>
            </p:nvPr>
          </p:nvSpPr>
          <p:spPr>
            <a:xfrm>
              <a:off x="3380675" y="2440939"/>
              <a:ext cx="1332230" cy="68961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3" name="TextBox 22"/>
            <p:cNvSpPr txBox="1"/>
            <p:nvPr>
              <p:custDataLst>
                <p:tags r:id="rId7"/>
              </p:custDataLst>
            </p:nvPr>
          </p:nvSpPr>
          <p:spPr>
            <a:xfrm>
              <a:off x="2090457" y="2614191"/>
              <a:ext cx="1117629" cy="38809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1200" b="1">
                  <a:solidFill>
                    <a:srgbClr val="2F2F2F">
                      <a:alpha val="100000"/>
                    </a:srgbClr>
                  </a:solidFill>
                  <a:ea typeface="微软雅黑" panose="020B0503020204020204" charset="-122"/>
                  <a:cs typeface="+mn-lt"/>
                </a:rPr>
                <a:t>科研与教育</a:t>
              </a:r>
              <a:br>
                <a:rPr lang="en-US" sz="1200" b="1">
                  <a:solidFill>
                    <a:srgbClr val="2F2F2F">
                      <a:alpha val="100000"/>
                    </a:srgbClr>
                  </a:solidFill>
                  <a:ea typeface="微软雅黑" panose="020B0503020204020204" charset="-122"/>
                  <a:cs typeface="+mn-lt"/>
                </a:rPr>
              </a:br>
              <a:r>
                <a:rPr lang="zh-CN" altLang="en-US" sz="1200" b="1">
                  <a:solidFill>
                    <a:srgbClr val="2F2F2F">
                      <a:alpha val="100000"/>
                    </a:srgbClr>
                  </a:solidFill>
                  <a:ea typeface="微软雅黑" panose="020B0503020204020204" charset="-122"/>
                  <a:cs typeface="+mn-lt"/>
                </a:rPr>
                <a:t>（</a:t>
              </a:r>
              <a:r>
                <a:rPr lang="en-US" altLang="zh-CN" sz="1200" b="1">
                  <a:solidFill>
                    <a:srgbClr val="2F2F2F">
                      <a:alpha val="100000"/>
                    </a:srgbClr>
                  </a:solidFill>
                  <a:ea typeface="微软雅黑" panose="020B0503020204020204" charset="-122"/>
                  <a:cs typeface="+mn-lt"/>
                </a:rPr>
                <a:t>18</a:t>
              </a:r>
              <a:r>
                <a:rPr lang="zh-CN" altLang="en-US" sz="1200" b="1">
                  <a:solidFill>
                    <a:srgbClr val="2F2F2F">
                      <a:alpha val="100000"/>
                    </a:srgbClr>
                  </a:solidFill>
                  <a:ea typeface="微软雅黑" panose="020B0503020204020204" charset="-122"/>
                  <a:cs typeface="+mn-lt"/>
                </a:rPr>
                <a:t>分）</a:t>
              </a:r>
              <a:endParaRPr lang="zh-CN" altLang="en-US" sz="1200" b="1">
                <a:solidFill>
                  <a:srgbClr val="2F2F2F">
                    <a:alpha val="100000"/>
                  </a:srgbClr>
                </a:solidFill>
                <a:ea typeface="微软雅黑" panose="020B0503020204020204" charset="-122"/>
                <a:cs typeface="+mn-lt"/>
              </a:endParaRPr>
            </a:p>
          </p:txBody>
        </p:sp>
        <p:grpSp>
          <p:nvGrpSpPr>
            <p:cNvPr id="65" name="Group 24"/>
            <p:cNvGrpSpPr/>
            <p:nvPr/>
          </p:nvGrpSpPr>
          <p:grpSpPr>
            <a:xfrm rot="0">
              <a:off x="4928900" y="2440939"/>
              <a:ext cx="2505710" cy="689610"/>
              <a:chOff x="6368935" y="2440939"/>
              <a:chExt cx="3332594" cy="689610"/>
            </a:xfrm>
          </p:grpSpPr>
          <p:sp>
            <p:nvSpPr>
              <p:cNvPr id="66" name="AutoShape 25"/>
              <p:cNvSpPr/>
              <p:nvPr>
                <p:custDataLst>
                  <p:tags r:id="rId8"/>
                </p:custDataLst>
              </p:nvPr>
            </p:nvSpPr>
            <p:spPr>
              <a:xfrm>
                <a:off x="7929663" y="2440939"/>
                <a:ext cx="1771866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7" name="TextBox 2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368935" y="2614017"/>
                <a:ext cx="1231354" cy="3200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00000"/>
                  </a:lnSpc>
                  <a:buClrTx/>
                  <a:buSzTx/>
                  <a:buFontTx/>
                  <a:defRPr/>
                </a:pPr>
                <a:r>
                  <a:rPr lang="en-US" sz="1200" b="1">
                    <a:solidFill>
                      <a:srgbClr val="2F2F2F">
                        <a:alpha val="100000"/>
                      </a:srgbClr>
                    </a:solidFill>
                    <a:ea typeface="微软雅黑" panose="020B0503020204020204" charset="-122"/>
                    <a:cs typeface="+mn-lt"/>
                  </a:rPr>
                  <a:t>医疗康复</a:t>
                </a:r>
                <a:r>
                  <a:rPr lang="en-US" sz="1200" b="1">
                    <a:solidFill>
                      <a:srgbClr val="2F2F2F">
                        <a:alpha val="100000"/>
                      </a:srgbClr>
                    </a:solidFill>
                    <a:ea typeface="微软雅黑" panose="020B0503020204020204" charset="-122"/>
                    <a:cs typeface="+mn-lt"/>
                    <a:sym typeface="+mn-ea"/>
                  </a:rPr>
                  <a:t>（13分）</a:t>
                </a:r>
                <a:endParaRPr lang="en-US" sz="1200" b="1">
                  <a:solidFill>
                    <a:srgbClr val="2F2F2F">
                      <a:alpha val="100000"/>
                    </a:srgbClr>
                  </a:solidFill>
                  <a:ea typeface="微软雅黑" panose="020B0503020204020204" charset="-122"/>
                  <a:cs typeface="+mn-lt"/>
                </a:endParaRPr>
              </a:p>
            </p:txBody>
          </p:sp>
        </p:grpSp>
        <p:grpSp>
          <p:nvGrpSpPr>
            <p:cNvPr id="69" name="Group 29"/>
            <p:cNvGrpSpPr/>
            <p:nvPr/>
          </p:nvGrpSpPr>
          <p:grpSpPr>
            <a:xfrm rot="0">
              <a:off x="3514388" y="2440939"/>
              <a:ext cx="5281931" cy="689610"/>
              <a:chOff x="4494301" y="2440939"/>
              <a:chExt cx="7024966" cy="689610"/>
            </a:xfrm>
          </p:grpSpPr>
          <p:sp>
            <p:nvSpPr>
              <p:cNvPr id="70" name="AutoShape 30"/>
              <p:cNvSpPr/>
              <p:nvPr>
                <p:custDataLst>
                  <p:tags r:id="rId10"/>
                </p:custDataLst>
              </p:nvPr>
            </p:nvSpPr>
            <p:spPr>
              <a:xfrm>
                <a:off x="9747402" y="2440939"/>
                <a:ext cx="1771865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1" name="TextBox 3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494301" y="2621964"/>
                <a:ext cx="1318342" cy="38989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200" b="1">
                    <a:solidFill>
                      <a:srgbClr val="2F2F2F">
                        <a:alpha val="100000"/>
                      </a:srgbClr>
                    </a:solidFill>
                    <a:ea typeface="微软雅黑" panose="020B0503020204020204" charset="-122"/>
                    <a:cs typeface="+mn-lt"/>
                  </a:rPr>
                  <a:t>智能制造</a:t>
                </a:r>
                <a:r>
                  <a:rPr lang="en-US" sz="1200" b="1">
                    <a:solidFill>
                      <a:srgbClr val="2F2F2F">
                        <a:alpha val="100000"/>
                      </a:srgbClr>
                    </a:solidFill>
                    <a:ea typeface="微软雅黑" panose="020B0503020204020204" charset="-122"/>
                    <a:cs typeface="+mn-lt"/>
                    <a:sym typeface="+mn-ea"/>
                  </a:rPr>
                  <a:t>（17分）</a:t>
                </a:r>
                <a:br>
                  <a:rPr lang="en-US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</a:br>
                <a:endParaRPr lang="en-US" sz="1400" b="1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74" name="AutoShape 35"/>
            <p:cNvSpPr/>
            <p:nvPr>
              <p:custDataLst>
                <p:tags r:id="rId12"/>
              </p:custDataLst>
            </p:nvPr>
          </p:nvSpPr>
          <p:spPr>
            <a:xfrm>
              <a:off x="8825520" y="2440939"/>
              <a:ext cx="1332230" cy="688975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7" name="AutoShape 40"/>
            <p:cNvSpPr/>
            <p:nvPr>
              <p:custDataLst>
                <p:tags r:id="rId13"/>
              </p:custDataLst>
            </p:nvPr>
          </p:nvSpPr>
          <p:spPr>
            <a:xfrm>
              <a:off x="10186948" y="2440939"/>
              <a:ext cx="1332230" cy="69088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</p:grpSp>
      <p:sp>
        <p:nvSpPr>
          <p:cNvPr id="102" name="AutoShape 25"/>
          <p:cNvSpPr/>
          <p:nvPr>
            <p:custDataLst>
              <p:tags r:id="rId14"/>
            </p:custDataLst>
          </p:nvPr>
        </p:nvSpPr>
        <p:spPr>
          <a:xfrm>
            <a:off x="4719955" y="3933190"/>
            <a:ext cx="1332230" cy="1248410"/>
          </a:xfrm>
          <a:prstGeom prst="roundRect">
            <a:avLst>
              <a:gd name="adj" fmla="val 1413"/>
            </a:avLst>
          </a:prstGeom>
          <a:solidFill>
            <a:srgbClr val="065BF7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p>
            <a:endParaRPr lang="zh-CN" altLang="en-US"/>
          </a:p>
        </p:txBody>
      </p:sp>
      <p:grpSp>
        <p:nvGrpSpPr>
          <p:cNvPr id="2" name="Group 2"/>
          <p:cNvGrpSpPr/>
          <p:nvPr>
            <p:custDataLst>
              <p:tags r:id="rId15"/>
            </p:custDataLst>
          </p:nvPr>
        </p:nvGrpSpPr>
        <p:grpSpPr>
          <a:xfrm rot="0">
            <a:off x="667385" y="990600"/>
            <a:ext cx="10858500" cy="1612900"/>
            <a:chOff x="660400" y="1054101"/>
            <a:chExt cx="10858778" cy="2077718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054101"/>
              <a:ext cx="10858500" cy="6096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lnSpc>
                  <a:spcPct val="110000"/>
                </a:lnSpc>
                <a:defRPr/>
              </a:pPr>
              <a:r>
                <a:rPr lang="zh-CN" altLang="en-US" sz="20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市场路径、行业方向及商业模式</a:t>
              </a:r>
              <a:r>
                <a:rPr lang="en-US" sz="20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选择原因及对标公司</a:t>
              </a:r>
              <a:endParaRPr lang="en-US" sz="20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423793"/>
              <a:ext cx="1332230" cy="706490"/>
              <a:chOff x="660400" y="2423793"/>
              <a:chExt cx="1771865" cy="706490"/>
            </a:xfrm>
          </p:grpSpPr>
          <p:sp>
            <p:nvSpPr>
              <p:cNvPr id="5" name="AutoShape 5"/>
              <p:cNvSpPr/>
              <p:nvPr>
                <p:custDataLst>
                  <p:tags r:id="rId16"/>
                </p:custDataLst>
              </p:nvPr>
            </p:nvSpPr>
            <p:spPr>
              <a:xfrm>
                <a:off x="660400" y="2440673"/>
                <a:ext cx="1771865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95528" y="2423793"/>
                <a:ext cx="1275270" cy="5321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ToB为主ToG为辅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2020041" y="1927859"/>
              <a:ext cx="1332865" cy="1203325"/>
              <a:chOff x="2477293" y="1927859"/>
              <a:chExt cx="1772710" cy="1203325"/>
            </a:xfrm>
          </p:grpSpPr>
          <p:sp>
            <p:nvSpPr>
              <p:cNvPr id="10" name="AutoShape 10"/>
              <p:cNvSpPr/>
              <p:nvPr>
                <p:custDataLst>
                  <p:tags r:id="rId18"/>
                </p:custDataLst>
              </p:nvPr>
            </p:nvSpPr>
            <p:spPr>
              <a:xfrm>
                <a:off x="2478138" y="2440939"/>
                <a:ext cx="1771865" cy="690245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2477293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3380040" y="1927859"/>
              <a:ext cx="1332865" cy="1202690"/>
              <a:chOff x="4294187" y="1927859"/>
              <a:chExt cx="1772710" cy="1202690"/>
            </a:xfrm>
          </p:grpSpPr>
          <p:sp>
            <p:nvSpPr>
              <p:cNvPr id="15" name="AutoShape 15"/>
              <p:cNvSpPr/>
              <p:nvPr>
                <p:custDataLst>
                  <p:tags r:id="rId20"/>
                </p:custDataLst>
              </p:nvPr>
            </p:nvSpPr>
            <p:spPr>
              <a:xfrm>
                <a:off x="4295032" y="2440939"/>
                <a:ext cx="1771865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294187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2180313" y="1927859"/>
              <a:ext cx="2970484" cy="1096937"/>
              <a:chOff x="2706169" y="1927859"/>
              <a:chExt cx="3950744" cy="1096937"/>
            </a:xfrm>
          </p:grpSpPr>
          <p:sp>
            <p:nvSpPr>
              <p:cNvPr id="22" name="TextBox 22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2706169" y="2569170"/>
                <a:ext cx="1338646" cy="45562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需求逻辑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6111081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4946046" y="1927859"/>
              <a:ext cx="2488565" cy="1202690"/>
              <a:chOff x="6391738" y="1927859"/>
              <a:chExt cx="3309791" cy="1202690"/>
            </a:xfrm>
          </p:grpSpPr>
          <p:sp>
            <p:nvSpPr>
              <p:cNvPr id="25" name="AutoShape 2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929663" y="2440939"/>
                <a:ext cx="1771866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6391738" y="2569170"/>
                <a:ext cx="1231385" cy="4000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400" b="1" i="0">
                    <a:solidFill>
                      <a:srgbClr val="2F2F2F">
                        <a:alpha val="100000"/>
                      </a:srgbClr>
                    </a:solidFill>
                    <a:latin typeface="+mj-lt"/>
                    <a:ea typeface="微软雅黑" panose="020B0503020204020204" charset="-122"/>
                    <a:cs typeface="微软雅黑" panose="020B0503020204020204" charset="-122"/>
                  </a:rPr>
                  <a:t>成本逻辑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7927975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3526454" y="1927859"/>
              <a:ext cx="5269865" cy="1202690"/>
              <a:chOff x="4510349" y="1927859"/>
              <a:chExt cx="7008918" cy="1202690"/>
            </a:xfrm>
          </p:grpSpPr>
          <p:sp>
            <p:nvSpPr>
              <p:cNvPr id="30" name="AutoShape 30"/>
              <p:cNvSpPr/>
              <p:nvPr>
                <p:custDataLst>
                  <p:tags r:id="rId27"/>
                </p:custDataLst>
              </p:nvPr>
            </p:nvSpPr>
            <p:spPr>
              <a:xfrm>
                <a:off x="9747402" y="2440939"/>
                <a:ext cx="1771865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TextBox 32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4510349" y="2568204"/>
                <a:ext cx="1318342" cy="38989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竞争逻辑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9744868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8823615" y="1927859"/>
              <a:ext cx="1334135" cy="1202055"/>
              <a:chOff x="9744868" y="1927859"/>
              <a:chExt cx="1774399" cy="1202055"/>
            </a:xfrm>
          </p:grpSpPr>
          <p:sp>
            <p:nvSpPr>
              <p:cNvPr id="35" name="AutoShape 35"/>
              <p:cNvSpPr/>
              <p:nvPr>
                <p:custDataLst>
                  <p:tags r:id="rId30"/>
                </p:custDataLst>
              </p:nvPr>
            </p:nvSpPr>
            <p:spPr>
              <a:xfrm>
                <a:off x="9747402" y="2440939"/>
                <a:ext cx="1771865" cy="688975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8" name="TextBox 38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9744868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6</a:t>
                </a:r>
                <a:endParaRPr lang="en-US" sz="1100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10185043" y="1927859"/>
              <a:ext cx="1334135" cy="1203960"/>
              <a:chOff x="9744868" y="1927859"/>
              <a:chExt cx="1774399" cy="1203960"/>
            </a:xfrm>
          </p:grpSpPr>
          <p:sp>
            <p:nvSpPr>
              <p:cNvPr id="40" name="AutoShape 40"/>
              <p:cNvSpPr/>
              <p:nvPr>
                <p:custDataLst>
                  <p:tags r:id="rId32"/>
                </p:custDataLst>
              </p:nvPr>
            </p:nvSpPr>
            <p:spPr>
              <a:xfrm>
                <a:off x="9747402" y="2440939"/>
                <a:ext cx="1771865" cy="69088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TextBox 4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9744868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7</a:t>
                </a:r>
                <a:endParaRPr lang="en-US" sz="1100"/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战略决策核心要点</a:t>
            </a:r>
            <a:endParaRPr lang="en-US" sz="1100"/>
          </a:p>
        </p:txBody>
      </p:sp>
      <p:sp>
        <p:nvSpPr>
          <p:cNvPr id="48" name="TextBox 27"/>
          <p:cNvSpPr txBox="1"/>
          <p:nvPr>
            <p:custDataLst>
              <p:tags r:id="rId34"/>
            </p:custDataLst>
          </p:nvPr>
        </p:nvSpPr>
        <p:spPr>
          <a:xfrm>
            <a:off x="6353840" y="2146299"/>
            <a:ext cx="925830" cy="32004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10000"/>
              </a:lnSpc>
              <a:defRPr/>
            </a:pPr>
            <a:r>
              <a:rPr lang="en-US" sz="1400" b="1" i="0">
                <a:solidFill>
                  <a:srgbClr val="2F2F2F">
                    <a:alpha val="100000"/>
                  </a:srgbClr>
                </a:solidFill>
                <a:latin typeface="+mj-lt"/>
                <a:ea typeface="微软雅黑" panose="020B0503020204020204" charset="-122"/>
                <a:cs typeface="微软雅黑" panose="020B0503020204020204" charset="-122"/>
              </a:rPr>
              <a:t>时间逻辑</a:t>
            </a:r>
            <a:endParaRPr lang="en-US" sz="1100"/>
          </a:p>
        </p:txBody>
      </p:sp>
      <p:sp>
        <p:nvSpPr>
          <p:cNvPr id="83" name="TextBox 7"/>
          <p:cNvSpPr txBox="1"/>
          <p:nvPr>
            <p:custDataLst>
              <p:tags r:id="rId35"/>
            </p:custDataLst>
          </p:nvPr>
        </p:nvSpPr>
        <p:spPr>
          <a:xfrm>
            <a:off x="594360" y="2971800"/>
            <a:ext cx="1530985" cy="62166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defRPr/>
            </a:pPr>
            <a:r>
              <a:rPr lang="en-US" sz="14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目标行业排序（按FAST评分</a:t>
            </a:r>
            <a:r>
              <a:rPr lang="en-US" sz="16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sz="1100"/>
          </a:p>
        </p:txBody>
      </p:sp>
      <p:sp>
        <p:nvSpPr>
          <p:cNvPr id="84" name="TextBox 27"/>
          <p:cNvSpPr txBox="1"/>
          <p:nvPr>
            <p:custDataLst>
              <p:tags r:id="rId36"/>
            </p:custDataLst>
          </p:nvPr>
        </p:nvSpPr>
        <p:spPr>
          <a:xfrm>
            <a:off x="7670721" y="3111250"/>
            <a:ext cx="925806" cy="4602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1200" b="1">
                <a:solidFill>
                  <a:srgbClr val="2F2F2F">
                    <a:alpha val="100000"/>
                  </a:srgbClr>
                </a:solidFill>
                <a:ea typeface="微软雅黑" panose="020B0503020204020204" charset="-122"/>
                <a:cs typeface="+mn-lt"/>
              </a:rPr>
              <a:t>体育科学</a:t>
            </a:r>
            <a:r>
              <a:rPr lang="en-US" sz="1200" b="1">
                <a:solidFill>
                  <a:srgbClr val="2F2F2F">
                    <a:alpha val="100000"/>
                  </a:srgbClr>
                </a:solidFill>
                <a:ea typeface="微软雅黑" panose="020B0503020204020204" charset="-122"/>
                <a:cs typeface="+mn-lt"/>
                <a:sym typeface="+mn-ea"/>
              </a:rPr>
              <a:t>（10分）</a:t>
            </a:r>
            <a:endParaRPr lang="en-US" sz="1200" b="1">
              <a:solidFill>
                <a:srgbClr val="2F2F2F">
                  <a:alpha val="100000"/>
                </a:srgbClr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85" name="TextBox 27"/>
          <p:cNvSpPr txBox="1"/>
          <p:nvPr>
            <p:custDataLst>
              <p:tags r:id="rId37"/>
            </p:custDataLst>
          </p:nvPr>
        </p:nvSpPr>
        <p:spPr>
          <a:xfrm>
            <a:off x="6292771" y="3035685"/>
            <a:ext cx="925806" cy="4602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1200" b="1">
                <a:solidFill>
                  <a:srgbClr val="2F2F2F">
                    <a:alpha val="100000"/>
                  </a:srgbClr>
                </a:solidFill>
                <a:ea typeface="微软雅黑" panose="020B0503020204020204" charset="-122"/>
                <a:cs typeface="+mn-lt"/>
              </a:rPr>
              <a:t>机器人电子皮肤</a:t>
            </a:r>
            <a:r>
              <a:rPr lang="en-US" sz="1200" b="1">
                <a:solidFill>
                  <a:srgbClr val="2F2F2F">
                    <a:alpha val="100000"/>
                  </a:srgbClr>
                </a:solidFill>
                <a:ea typeface="微软雅黑" panose="020B0503020204020204" charset="-122"/>
                <a:cs typeface="+mn-lt"/>
                <a:sym typeface="+mn-ea"/>
              </a:rPr>
              <a:t>（12分）</a:t>
            </a:r>
            <a:endParaRPr lang="en-US" sz="1200" b="1">
              <a:solidFill>
                <a:srgbClr val="2F2F2F">
                  <a:alpha val="100000"/>
                </a:srgbClr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86" name="TextBox 27"/>
          <p:cNvSpPr txBox="1"/>
          <p:nvPr>
            <p:custDataLst>
              <p:tags r:id="rId38"/>
            </p:custDataLst>
          </p:nvPr>
        </p:nvSpPr>
        <p:spPr>
          <a:xfrm>
            <a:off x="9013111" y="3110615"/>
            <a:ext cx="925806" cy="4602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1200" b="1">
                <a:solidFill>
                  <a:srgbClr val="2F2F2F">
                    <a:alpha val="100000"/>
                  </a:srgbClr>
                </a:solidFill>
                <a:ea typeface="微软雅黑" panose="020B0503020204020204" charset="-122"/>
                <a:cs typeface="+mn-lt"/>
              </a:rPr>
              <a:t>智能家居</a:t>
            </a:r>
            <a:r>
              <a:rPr lang="en-US" sz="1200" b="1">
                <a:solidFill>
                  <a:srgbClr val="2F2F2F">
                    <a:alpha val="100000"/>
                  </a:srgbClr>
                </a:solidFill>
                <a:ea typeface="微软雅黑" panose="020B0503020204020204" charset="-122"/>
                <a:cs typeface="+mn-lt"/>
                <a:sym typeface="+mn-ea"/>
              </a:rPr>
              <a:t>（8分</a:t>
            </a:r>
            <a:r>
              <a:rPr lang="en-US" sz="12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sz="1200" b="1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27"/>
          <p:cNvSpPr txBox="1"/>
          <p:nvPr>
            <p:custDataLst>
              <p:tags r:id="rId39"/>
            </p:custDataLst>
          </p:nvPr>
        </p:nvSpPr>
        <p:spPr>
          <a:xfrm>
            <a:off x="10314861" y="3123950"/>
            <a:ext cx="925806" cy="4602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1200" b="1">
                <a:solidFill>
                  <a:srgbClr val="2F2F2F">
                    <a:alpha val="100000"/>
                  </a:srgbClr>
                </a:solidFill>
                <a:ea typeface="微软雅黑" panose="020B0503020204020204" charset="-122"/>
                <a:cs typeface="+mn-lt"/>
              </a:rPr>
              <a:t>汽车</a:t>
            </a:r>
            <a:br>
              <a:rPr lang="en-US" sz="1200" b="1">
                <a:solidFill>
                  <a:srgbClr val="2F2F2F">
                    <a:alpha val="100000"/>
                  </a:srgbClr>
                </a:solidFill>
                <a:ea typeface="微软雅黑" panose="020B0503020204020204" charset="-122"/>
                <a:cs typeface="+mn-lt"/>
              </a:rPr>
            </a:br>
            <a:r>
              <a:rPr lang="en-US" sz="1200" b="1">
                <a:solidFill>
                  <a:srgbClr val="2F2F2F">
                    <a:alpha val="100000"/>
                  </a:srgbClr>
                </a:solidFill>
                <a:ea typeface="微软雅黑" panose="020B0503020204020204" charset="-122"/>
                <a:cs typeface="+mn-lt"/>
                <a:sym typeface="+mn-ea"/>
              </a:rPr>
              <a:t>（6分）</a:t>
            </a:r>
            <a:endParaRPr lang="en-US" sz="1200" b="1">
              <a:solidFill>
                <a:srgbClr val="2F2F2F">
                  <a:alpha val="100000"/>
                </a:srgbClr>
              </a:solidFill>
              <a:ea typeface="微软雅黑" panose="020B0503020204020204" charset="-122"/>
              <a:cs typeface="+mn-lt"/>
            </a:endParaRPr>
          </a:p>
        </p:txBody>
      </p:sp>
      <p:grpSp>
        <p:nvGrpSpPr>
          <p:cNvPr id="89" name="Group 2"/>
          <p:cNvGrpSpPr/>
          <p:nvPr>
            <p:custDataLst>
              <p:tags r:id="rId40"/>
            </p:custDataLst>
          </p:nvPr>
        </p:nvGrpSpPr>
        <p:grpSpPr>
          <a:xfrm rot="0">
            <a:off x="646430" y="3930650"/>
            <a:ext cx="10858500" cy="1251585"/>
            <a:chOff x="660400" y="2440673"/>
            <a:chExt cx="10858778" cy="691146"/>
          </a:xfrm>
        </p:grpSpPr>
        <p:sp>
          <p:nvSpPr>
            <p:cNvPr id="90" name="AutoShape 5"/>
            <p:cNvSpPr/>
            <p:nvPr>
              <p:custDataLst>
                <p:tags r:id="rId41"/>
              </p:custDataLst>
            </p:nvPr>
          </p:nvSpPr>
          <p:spPr>
            <a:xfrm>
              <a:off x="660400" y="2440673"/>
              <a:ext cx="1332230" cy="68961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1" name="AutoShape 10"/>
            <p:cNvSpPr/>
            <p:nvPr>
              <p:custDataLst>
                <p:tags r:id="rId42"/>
              </p:custDataLst>
            </p:nvPr>
          </p:nvSpPr>
          <p:spPr>
            <a:xfrm>
              <a:off x="2020676" y="2440939"/>
              <a:ext cx="1332230" cy="690245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2" name="AutoShape 15"/>
            <p:cNvSpPr/>
            <p:nvPr>
              <p:custDataLst>
                <p:tags r:id="rId43"/>
              </p:custDataLst>
            </p:nvPr>
          </p:nvSpPr>
          <p:spPr>
            <a:xfrm>
              <a:off x="3380675" y="2440939"/>
              <a:ext cx="1332230" cy="68961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3" name="TextBox 22"/>
            <p:cNvSpPr txBox="1"/>
            <p:nvPr>
              <p:custDataLst>
                <p:tags r:id="rId44"/>
              </p:custDataLst>
            </p:nvPr>
          </p:nvSpPr>
          <p:spPr>
            <a:xfrm>
              <a:off x="2040925" y="2641381"/>
              <a:ext cx="1273843" cy="28129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lnSpc>
                  <a:spcPct val="100000"/>
                </a:lnSpc>
                <a:defRPr/>
              </a:pPr>
              <a:r>
                <a: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美国</a:t>
              </a:r>
              <a:r>
                <a:rPr lang="en-US" altLang="zh-CN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Vernier</a:t>
              </a:r>
              <a:r>
                <a: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</a:t>
              </a:r>
              <a:r>
                <a:rPr lang="en-US" altLang="zh-CN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Phidgets</a:t>
              </a:r>
              <a:r>
                <a: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</a:t>
              </a:r>
              <a:br>
                <a: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美国</a:t>
              </a:r>
              <a:r>
                <a:rPr lang="en-US" altLang="zh-CN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tekscan</a:t>
              </a:r>
              <a:endParaRPr lang="en-US" altLang="zh-CN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94" name="Group 24"/>
            <p:cNvGrpSpPr/>
            <p:nvPr/>
          </p:nvGrpSpPr>
          <p:grpSpPr>
            <a:xfrm rot="0">
              <a:off x="4651397" y="2440939"/>
              <a:ext cx="2783213" cy="689610"/>
              <a:chOff x="5999856" y="2440939"/>
              <a:chExt cx="3701673" cy="689610"/>
            </a:xfrm>
          </p:grpSpPr>
          <p:sp>
            <p:nvSpPr>
              <p:cNvPr id="95" name="AutoShape 25"/>
              <p:cNvSpPr/>
              <p:nvPr>
                <p:custDataLst>
                  <p:tags r:id="rId45"/>
                </p:custDataLst>
              </p:nvPr>
            </p:nvSpPr>
            <p:spPr>
              <a:xfrm>
                <a:off x="7929663" y="2440939"/>
                <a:ext cx="1771866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6" name="TextBox 27"/>
              <p:cNvSpPr txBox="1"/>
              <p:nvPr>
                <p:custDataLst>
                  <p:tags r:id="rId46"/>
                </p:custDataLst>
              </p:nvPr>
            </p:nvSpPr>
            <p:spPr>
              <a:xfrm>
                <a:off x="5999856" y="2534565"/>
                <a:ext cx="1903664" cy="5084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buClrTx/>
                  <a:buSzTx/>
                  <a:buFontTx/>
                  <a:defRPr/>
                </a:pP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RSScan、BioSensics、Tekscan和myant等，</a:t>
                </a:r>
                <a:b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</a:b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威海</a:t>
                </a: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矩</a:t>
                </a: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侨也在申请）</a:t>
                </a:r>
                <a:endPara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97" name="Group 29"/>
            <p:cNvGrpSpPr/>
            <p:nvPr/>
          </p:nvGrpSpPr>
          <p:grpSpPr>
            <a:xfrm rot="0">
              <a:off x="3428661" y="2440939"/>
              <a:ext cx="5367658" cy="689610"/>
              <a:chOff x="4380284" y="2440939"/>
              <a:chExt cx="7138983" cy="689610"/>
            </a:xfrm>
          </p:grpSpPr>
          <p:sp>
            <p:nvSpPr>
              <p:cNvPr id="98" name="AutoShape 30"/>
              <p:cNvSpPr/>
              <p:nvPr>
                <p:custDataLst>
                  <p:tags r:id="rId47"/>
                </p:custDataLst>
              </p:nvPr>
            </p:nvSpPr>
            <p:spPr>
              <a:xfrm>
                <a:off x="9747402" y="2440939"/>
                <a:ext cx="1771865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9" name="TextBox 32"/>
              <p:cNvSpPr txBox="1"/>
              <p:nvPr>
                <p:custDataLst>
                  <p:tags r:id="rId48"/>
                </p:custDataLst>
              </p:nvPr>
            </p:nvSpPr>
            <p:spPr>
              <a:xfrm>
                <a:off x="4380284" y="2605657"/>
                <a:ext cx="1646070" cy="38980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美国tekscan、瑞士sefar、</a:t>
                </a:r>
                <a:b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</a:b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威海</a:t>
                </a: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矩侨</a:t>
                </a:r>
                <a:endPara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广州埔慧</a:t>
                </a:r>
                <a:br>
                  <a:rPr lang="en-US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</a:br>
                <a:endParaRPr lang="en-US" sz="1400" b="1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00" name="AutoShape 35"/>
            <p:cNvSpPr/>
            <p:nvPr>
              <p:custDataLst>
                <p:tags r:id="rId49"/>
              </p:custDataLst>
            </p:nvPr>
          </p:nvSpPr>
          <p:spPr>
            <a:xfrm>
              <a:off x="8825520" y="2440939"/>
              <a:ext cx="1332230" cy="688975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01" name="AutoShape 40"/>
            <p:cNvSpPr/>
            <p:nvPr>
              <p:custDataLst>
                <p:tags r:id="rId50"/>
              </p:custDataLst>
            </p:nvPr>
          </p:nvSpPr>
          <p:spPr>
            <a:xfrm>
              <a:off x="10186948" y="2440939"/>
              <a:ext cx="1332230" cy="69088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</p:grpSp>
      <p:sp>
        <p:nvSpPr>
          <p:cNvPr id="103" name="TextBox 22"/>
          <p:cNvSpPr txBox="1"/>
          <p:nvPr>
            <p:custDataLst>
              <p:tags r:id="rId51"/>
            </p:custDataLst>
          </p:nvPr>
        </p:nvSpPr>
        <p:spPr>
          <a:xfrm>
            <a:off x="761721" y="4332604"/>
            <a:ext cx="1006475" cy="387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defRPr/>
            </a:pPr>
            <a:r>
              <a:rPr lang="zh-CN" altLang="en-US" sz="14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对标</a:t>
            </a:r>
            <a:r>
              <a:rPr lang="zh-CN" altLang="en-US" sz="14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</a:t>
            </a:r>
            <a:endParaRPr lang="zh-CN" altLang="en-US" sz="1400" b="1" i="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Box 22"/>
          <p:cNvSpPr txBox="1"/>
          <p:nvPr>
            <p:custDataLst>
              <p:tags r:id="rId52"/>
            </p:custDataLst>
          </p:nvPr>
        </p:nvSpPr>
        <p:spPr>
          <a:xfrm>
            <a:off x="6108700" y="4090035"/>
            <a:ext cx="1228090" cy="387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美国Syntouch，威海</a:t>
            </a: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</a:t>
            </a: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侨、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模量科技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Box 22"/>
          <p:cNvSpPr txBox="1"/>
          <p:nvPr>
            <p:custDataLst>
              <p:tags r:id="rId53"/>
            </p:custDataLst>
          </p:nvPr>
        </p:nvSpPr>
        <p:spPr>
          <a:xfrm>
            <a:off x="7470140" y="3962400"/>
            <a:ext cx="1311275" cy="387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美国Moticon (专业鞋垫)、BioSensics、Peloton (大众健身)、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宁波韧和科技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22"/>
          <p:cNvSpPr txBox="1"/>
          <p:nvPr>
            <p:custDataLst>
              <p:tags r:id="rId54"/>
            </p:custDataLst>
          </p:nvPr>
        </p:nvSpPr>
        <p:spPr>
          <a:xfrm>
            <a:off x="8832850" y="4038600"/>
            <a:ext cx="1311275" cy="387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Eight Sleep、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小米生态，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喜临门，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宁波韧和科技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22"/>
          <p:cNvSpPr txBox="1"/>
          <p:nvPr>
            <p:custDataLst>
              <p:tags r:id="rId55"/>
            </p:custDataLst>
          </p:nvPr>
        </p:nvSpPr>
        <p:spPr>
          <a:xfrm>
            <a:off x="10193020" y="3962400"/>
            <a:ext cx="1250950" cy="387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Flexpoint、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IEE、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深圳瑞之辰，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上海尧乐，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迷思科技，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广州埔慧科技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9" name="表格 108"/>
          <p:cNvGraphicFramePr/>
          <p:nvPr>
            <p:custDataLst>
              <p:tags r:id="rId56"/>
            </p:custDataLst>
          </p:nvPr>
        </p:nvGraphicFramePr>
        <p:xfrm>
          <a:off x="646430" y="5257800"/>
          <a:ext cx="10858500" cy="1313815"/>
        </p:xfrm>
        <a:graphic>
          <a:graphicData uri="http://schemas.openxmlformats.org/drawingml/2006/table">
            <a:tbl>
              <a:tblPr firstRow="1" firstCol="1" bandRow="1">
                <a:tableStyleId>{22DE27CB-C89C-447C-9771-39D14595F7BC}</a:tableStyleId>
              </a:tblPr>
              <a:tblGrid>
                <a:gridCol w="1601470"/>
                <a:gridCol w="3562985"/>
                <a:gridCol w="3057525"/>
                <a:gridCol w="2636520"/>
              </a:tblGrid>
              <a:tr h="28702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b="1" spc="120">
                          <a:solidFill>
                            <a:schemeClr val="bg1"/>
                          </a:solidFill>
                        </a:rPr>
                        <a:t>FAST</a:t>
                      </a:r>
                      <a:r>
                        <a:rPr lang="zh-CN" altLang="en-US" sz="1500" b="1" spc="120">
                          <a:solidFill>
                            <a:schemeClr val="bg1"/>
                          </a:solidFill>
                        </a:rPr>
                        <a:t>评分原则</a:t>
                      </a:r>
                      <a:endParaRPr lang="zh-CN" altLang="en-US" sz="1500" b="1" spc="12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500" spc="120"/>
                        <a:t>5</a:t>
                      </a:r>
                      <a:r>
                        <a:rPr lang="zh-CN" altLang="en-US" sz="1500" spc="120"/>
                        <a:t>分</a:t>
                      </a:r>
                      <a:r>
                        <a:rPr lang="en-US" altLang="zh-CN" sz="1500" spc="120"/>
                        <a:t> (</a:t>
                      </a:r>
                      <a:r>
                        <a:rPr lang="zh-CN" altLang="en-US" sz="1500" spc="120"/>
                        <a:t>优秀</a:t>
                      </a:r>
                      <a:r>
                        <a:rPr lang="en-US" altLang="zh-CN" sz="1500" spc="120"/>
                        <a:t>)</a:t>
                      </a:r>
                      <a:endParaRPr lang="en-US" altLang="zh-CN" sz="1500" spc="120"/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500" spc="120"/>
                        <a:t>3</a:t>
                      </a:r>
                      <a:r>
                        <a:rPr lang="zh-CN" altLang="en-US" sz="1500" spc="120"/>
                        <a:t>分</a:t>
                      </a:r>
                      <a:r>
                        <a:rPr lang="en-US" altLang="zh-CN" sz="1500" spc="120"/>
                        <a:t> (</a:t>
                      </a:r>
                      <a:r>
                        <a:rPr lang="zh-CN" altLang="en-US" sz="1500" spc="120"/>
                        <a:t>中等</a:t>
                      </a:r>
                      <a:r>
                        <a:rPr lang="en-US" altLang="zh-CN" sz="1500" spc="120"/>
                        <a:t>)</a:t>
                      </a:r>
                      <a:endParaRPr lang="en-US" altLang="zh-CN" sz="1500" spc="120"/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500" spc="120"/>
                        <a:t>1</a:t>
                      </a:r>
                      <a:r>
                        <a:rPr lang="zh-CN" altLang="en-US" sz="1500" spc="120"/>
                        <a:t>分</a:t>
                      </a:r>
                      <a:r>
                        <a:rPr lang="en-US" altLang="zh-CN" sz="1500" spc="120"/>
                        <a:t> (</a:t>
                      </a:r>
                      <a:r>
                        <a:rPr lang="zh-CN" altLang="en-US" sz="1500" spc="120"/>
                        <a:t>差</a:t>
                      </a:r>
                      <a:r>
                        <a:rPr lang="en-US" altLang="zh-CN" sz="1500" spc="120"/>
                        <a:t>)</a:t>
                      </a:r>
                      <a:endParaRPr lang="en-US" altLang="zh-CN" sz="1500" spc="120"/>
                    </a:p>
                  </a:txBody>
                  <a:tcPr marL="25400" marR="25400" marT="6350" marB="6350" anchor="ctr" anchorCtr="0"/>
                </a:tc>
              </a:tr>
              <a:tr h="2501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</a:rPr>
                        <a:t>F-聚焦</a:t>
                      </a:r>
                      <a:endParaRPr lang="en-US" altLang="zh-CN" sz="1500" b="1" spc="120">
                        <a:solidFill>
                          <a:srgbClr val="FFFFFF"/>
                        </a:solidFill>
                      </a:endParaRPr>
                    </a:p>
                  </a:txBody>
                  <a:tcPr marL="25400" marR="25400" marT="6350" marB="635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场景定义非常清晰、明确</a:t>
                      </a:r>
                      <a:endParaRPr lang="zh-CN" altLang="en-US" sz="1000"/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场景有一定范围，不够聚焦</a:t>
                      </a:r>
                      <a:endParaRPr lang="zh-CN" altLang="en-US" sz="1000"/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需求模糊，场景宽泛</a:t>
                      </a:r>
                      <a:endParaRPr lang="zh-CN" altLang="en-US" sz="1000"/>
                    </a:p>
                  </a:txBody>
                  <a:tcPr marL="25400" marR="25400" marT="6350" marB="6350" anchor="ctr" anchorCtr="0"/>
                </a:tc>
              </a:tr>
              <a:tr h="2501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</a:rPr>
                        <a:t>A-可触达</a:t>
                      </a:r>
                      <a:endParaRPr lang="en-US" sz="1300" b="1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cs typeface="+mn-lt"/>
                        </a:rPr>
                        <a:t>市场已有成熟公司</a:t>
                      </a:r>
                      <a:r>
                        <a:rPr lang="en-US" altLang="zh-CN" sz="1000">
                          <a:cs typeface="+mn-lt"/>
                        </a:rPr>
                        <a:t>/</a:t>
                      </a:r>
                      <a:r>
                        <a:rPr lang="zh-CN" altLang="en-US" sz="1000">
                          <a:cs typeface="+mn-lt"/>
                        </a:rPr>
                        <a:t>产品，付费意愿明确</a:t>
                      </a:r>
                      <a:endParaRPr lang="zh-CN" altLang="en-US" sz="1000">
                        <a:cs typeface="+mn-lt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有学术研究或概念验证，</a:t>
                      </a:r>
                      <a:r>
                        <a:rPr lang="zh-CN" altLang="en-US" sz="1000"/>
                        <a:t>但是商业案例少</a:t>
                      </a:r>
                      <a:endParaRPr lang="zh-CN" altLang="en-US" sz="1000"/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纯理论需求，无</a:t>
                      </a:r>
                      <a:r>
                        <a:rPr lang="zh-CN" altLang="en-US" sz="1000"/>
                        <a:t>应用先例</a:t>
                      </a:r>
                      <a:endParaRPr lang="zh-CN" altLang="en-US" sz="1000"/>
                    </a:p>
                  </a:txBody>
                  <a:tcPr marL="25400" marR="25400" marT="6350" marB="6350" anchor="ctr" anchorCtr="0"/>
                </a:tc>
              </a:tr>
              <a:tr h="2501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</a:rPr>
                        <a:t>S-可解决</a:t>
                      </a:r>
                      <a:endParaRPr lang="en-US" sz="1300" b="1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客户</a:t>
                      </a:r>
                      <a:r>
                        <a:rPr lang="zh-CN" altLang="en-US" sz="1000"/>
                        <a:t>相对集中、易联系、决策链短</a:t>
                      </a:r>
                      <a:endParaRPr lang="zh-CN" altLang="en-US" sz="1000"/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客户分散或需特殊渠道</a:t>
                      </a:r>
                      <a:endParaRPr lang="zh-CN" altLang="en-US" sz="1000"/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客户门槛极高，无法直接接触</a:t>
                      </a:r>
                      <a:endParaRPr lang="zh-CN" altLang="en-US" sz="1000"/>
                    </a:p>
                  </a:txBody>
                  <a:tcPr marL="25400" marR="25400" marT="6350" marB="6350" anchor="ctr" anchorCtr="0"/>
                </a:tc>
              </a:tr>
              <a:tr h="27622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</a:rPr>
                        <a:t>T-可验证</a:t>
                      </a:r>
                      <a:endParaRPr lang="en-US" sz="1300" b="1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cs typeface="+mn-lt"/>
                        </a:rPr>
                        <a:t>现有</a:t>
                      </a:r>
                      <a:r>
                        <a:rPr lang="en-US" altLang="zh-CN" sz="1000">
                          <a:cs typeface="+mn-lt"/>
                        </a:rPr>
                        <a:t>Demo</a:t>
                      </a:r>
                      <a:r>
                        <a:rPr lang="zh-CN" altLang="en-US" sz="1000">
                          <a:cs typeface="+mn-lt"/>
                        </a:rPr>
                        <a:t>稍作调整即可满足</a:t>
                      </a:r>
                      <a:endParaRPr lang="zh-CN" altLang="en-US" sz="1000">
                        <a:cs typeface="+mn-lt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需要中等程度的研发或工程化</a:t>
                      </a:r>
                      <a:endParaRPr lang="zh-CN" altLang="en-US" sz="1000"/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需要长期研发或跨越极高认证壁垒</a:t>
                      </a:r>
                      <a:endParaRPr lang="zh-CN" altLang="en-US" sz="1000"/>
                    </a:p>
                  </a:txBody>
                  <a:tcPr marL="25400" marR="25400" marT="6350" marB="635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AutoShape 25"/>
          <p:cNvSpPr/>
          <p:nvPr>
            <p:custDataLst>
              <p:tags r:id="rId1"/>
            </p:custDataLst>
          </p:nvPr>
        </p:nvSpPr>
        <p:spPr>
          <a:xfrm>
            <a:off x="4756150" y="3399155"/>
            <a:ext cx="1332230" cy="403225"/>
          </a:xfrm>
          <a:prstGeom prst="roundRect">
            <a:avLst>
              <a:gd name="adj" fmla="val 1413"/>
            </a:avLst>
          </a:prstGeom>
          <a:solidFill>
            <a:srgbClr val="065BF7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50" name="AutoShape 25"/>
          <p:cNvSpPr/>
          <p:nvPr>
            <p:custDataLst>
              <p:tags r:id="rId2"/>
            </p:custDataLst>
          </p:nvPr>
        </p:nvSpPr>
        <p:spPr>
          <a:xfrm>
            <a:off x="4765675" y="2505710"/>
            <a:ext cx="1332230" cy="751840"/>
          </a:xfrm>
          <a:prstGeom prst="roundRect">
            <a:avLst>
              <a:gd name="adj" fmla="val 1413"/>
            </a:avLst>
          </a:prstGeom>
          <a:solidFill>
            <a:srgbClr val="065BF7">
              <a:alpha val="14901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2" name="Group 2"/>
          <p:cNvGrpSpPr/>
          <p:nvPr>
            <p:custDataLst>
              <p:tags r:id="rId3"/>
            </p:custDataLst>
          </p:nvPr>
        </p:nvGrpSpPr>
        <p:grpSpPr>
          <a:xfrm rot="0">
            <a:off x="646430" y="1143000"/>
            <a:ext cx="10928350" cy="2122805"/>
            <a:chOff x="639538" y="1193273"/>
            <a:chExt cx="10879640" cy="1938546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93273"/>
              <a:ext cx="10858500" cy="6096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20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市场路径、行业方向及商业模式</a:t>
              </a:r>
              <a:r>
                <a:rPr lang="en-US" sz="20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选择原因及对标公司</a:t>
              </a:r>
              <a:endParaRPr lang="en-US" sz="20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39538" y="2440673"/>
              <a:ext cx="1353092" cy="689610"/>
              <a:chOff x="632654" y="2440673"/>
              <a:chExt cx="1799611" cy="689610"/>
            </a:xfrm>
          </p:grpSpPr>
          <p:sp>
            <p:nvSpPr>
              <p:cNvPr id="5" name="AutoShape 5"/>
              <p:cNvSpPr/>
              <p:nvPr>
                <p:custDataLst>
                  <p:tags r:id="rId4"/>
                </p:custDataLst>
              </p:nvPr>
            </p:nvSpPr>
            <p:spPr>
              <a:xfrm>
                <a:off x="660400" y="2440673"/>
                <a:ext cx="1771865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32654" y="2499241"/>
                <a:ext cx="1763967" cy="5323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zh-CN" altLang="en-US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商业模式排序（综合</a:t>
                </a:r>
                <a:r>
                  <a:rPr lang="zh-CN" altLang="en-US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分数）</a:t>
                </a:r>
                <a:endParaRPr lang="zh-CN" altLang="en-US" sz="1400" b="1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2020041" y="1927859"/>
              <a:ext cx="1332865" cy="1203325"/>
              <a:chOff x="2477293" y="1927859"/>
              <a:chExt cx="1772710" cy="1203325"/>
            </a:xfrm>
          </p:grpSpPr>
          <p:sp>
            <p:nvSpPr>
              <p:cNvPr id="10" name="AutoShap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2478138" y="2440939"/>
                <a:ext cx="1771865" cy="690245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477293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3380040" y="1927859"/>
              <a:ext cx="1332865" cy="1202690"/>
              <a:chOff x="4294187" y="1927859"/>
              <a:chExt cx="1772710" cy="1202690"/>
            </a:xfrm>
          </p:grpSpPr>
          <p:sp>
            <p:nvSpPr>
              <p:cNvPr id="15" name="AutoShape 15"/>
              <p:cNvSpPr/>
              <p:nvPr>
                <p:custDataLst>
                  <p:tags r:id="rId8"/>
                </p:custDataLst>
              </p:nvPr>
            </p:nvSpPr>
            <p:spPr>
              <a:xfrm>
                <a:off x="4295032" y="2440939"/>
                <a:ext cx="1771865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294187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2169239" y="1927859"/>
              <a:ext cx="2981558" cy="1167222"/>
              <a:chOff x="2691440" y="1927859"/>
              <a:chExt cx="3965473" cy="1167222"/>
            </a:xfrm>
          </p:grpSpPr>
          <p:sp>
            <p:nvSpPr>
              <p:cNvPr id="22" name="TextBox 2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691440" y="2707096"/>
                <a:ext cx="1338612" cy="3879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zh-CN" altLang="en-US" sz="1200" b="1"/>
                  <a:t>项目服务驱动产品化</a:t>
                </a:r>
                <a:endParaRPr lang="zh-CN" alt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111081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4928900" y="1927859"/>
              <a:ext cx="2505710" cy="1202690"/>
              <a:chOff x="6368935" y="1927859"/>
              <a:chExt cx="3332594" cy="1202690"/>
            </a:xfrm>
          </p:grpSpPr>
          <p:sp>
            <p:nvSpPr>
              <p:cNvPr id="25" name="AutoShape 25"/>
              <p:cNvSpPr/>
              <p:nvPr>
                <p:custDataLst>
                  <p:tags r:id="rId12"/>
                </p:custDataLst>
              </p:nvPr>
            </p:nvSpPr>
            <p:spPr>
              <a:xfrm>
                <a:off x="7929663" y="2440939"/>
                <a:ext cx="1771866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368935" y="2638425"/>
                <a:ext cx="1231354" cy="3200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zh-CN" altLang="en-US" sz="1200" b="1"/>
                  <a:t>代理/分销</a:t>
                </a:r>
                <a:endParaRPr lang="zh-CN" altLang="en-US" sz="1100"/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927975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3526454" y="1927859"/>
              <a:ext cx="5269865" cy="1202690"/>
              <a:chOff x="4510349" y="1927859"/>
              <a:chExt cx="7008918" cy="1202690"/>
            </a:xfrm>
          </p:grpSpPr>
          <p:sp>
            <p:nvSpPr>
              <p:cNvPr id="30" name="AutoShape 30"/>
              <p:cNvSpPr/>
              <p:nvPr>
                <p:custDataLst>
                  <p:tags r:id="rId15"/>
                </p:custDataLst>
              </p:nvPr>
            </p:nvSpPr>
            <p:spPr>
              <a:xfrm>
                <a:off x="9747402" y="2440939"/>
                <a:ext cx="1771865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TextBox 3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510349" y="2637790"/>
                <a:ext cx="1318342" cy="38989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zh-CN" altLang="en-US" sz="1200" b="1"/>
                  <a:t>项目制工程服务</a:t>
                </a:r>
                <a:endParaRPr lang="zh-CN" altLang="en-US" sz="1200" b="1"/>
              </a:p>
            </p:txBody>
          </p:sp>
          <p:sp>
            <p:nvSpPr>
              <p:cNvPr id="33" name="TextBox 33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9744868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8823615" y="1927859"/>
              <a:ext cx="1334135" cy="1202055"/>
              <a:chOff x="9744868" y="1927859"/>
              <a:chExt cx="1774399" cy="1202055"/>
            </a:xfrm>
          </p:grpSpPr>
          <p:sp>
            <p:nvSpPr>
              <p:cNvPr id="35" name="AutoShape 35"/>
              <p:cNvSpPr/>
              <p:nvPr>
                <p:custDataLst>
                  <p:tags r:id="rId18"/>
                </p:custDataLst>
              </p:nvPr>
            </p:nvSpPr>
            <p:spPr>
              <a:xfrm>
                <a:off x="9747402" y="2440939"/>
                <a:ext cx="1771865" cy="688975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8" name="TextBox 38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9744868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6</a:t>
                </a:r>
                <a:endParaRPr lang="en-US" sz="1100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10185043" y="1927859"/>
              <a:ext cx="1334135" cy="1203960"/>
              <a:chOff x="9744868" y="1927859"/>
              <a:chExt cx="1774399" cy="1203960"/>
            </a:xfrm>
          </p:grpSpPr>
          <p:sp>
            <p:nvSpPr>
              <p:cNvPr id="40" name="AutoShape 40"/>
              <p:cNvSpPr/>
              <p:nvPr>
                <p:custDataLst>
                  <p:tags r:id="rId20"/>
                </p:custDataLst>
              </p:nvPr>
            </p:nvSpPr>
            <p:spPr>
              <a:xfrm>
                <a:off x="9747402" y="2440939"/>
                <a:ext cx="1771865" cy="69088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TextBox 43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9744868" y="1927859"/>
                <a:ext cx="545832" cy="410345"/>
              </a:xfrm>
              <a:prstGeom prst="roundRect">
                <a:avLst>
                  <a:gd name="adj" fmla="val 10458"/>
                </a:avLst>
              </a:prstGeom>
              <a:solidFill>
                <a:srgbClr val="065B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7</a:t>
                </a:r>
                <a:endParaRPr lang="en-US" sz="1100"/>
              </a:p>
            </p:txBody>
          </p:sp>
        </p:grpSp>
      </p:grpSp>
      <p:grpSp>
        <p:nvGrpSpPr>
          <p:cNvPr id="51" name="Group 2"/>
          <p:cNvGrpSpPr/>
          <p:nvPr>
            <p:custDataLst>
              <p:tags r:id="rId22"/>
            </p:custDataLst>
          </p:nvPr>
        </p:nvGrpSpPr>
        <p:grpSpPr>
          <a:xfrm rot="0">
            <a:off x="646430" y="3396615"/>
            <a:ext cx="10927715" cy="481330"/>
            <a:chOff x="660400" y="2440673"/>
            <a:chExt cx="10858778" cy="821142"/>
          </a:xfrm>
        </p:grpSpPr>
        <p:sp>
          <p:nvSpPr>
            <p:cNvPr id="54" name="AutoShape 5"/>
            <p:cNvSpPr/>
            <p:nvPr>
              <p:custDataLst>
                <p:tags r:id="rId23"/>
              </p:custDataLst>
            </p:nvPr>
          </p:nvSpPr>
          <p:spPr>
            <a:xfrm>
              <a:off x="660400" y="2440673"/>
              <a:ext cx="1332230" cy="68961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7" name="AutoShape 10"/>
            <p:cNvSpPr/>
            <p:nvPr>
              <p:custDataLst>
                <p:tags r:id="rId24"/>
              </p:custDataLst>
            </p:nvPr>
          </p:nvSpPr>
          <p:spPr>
            <a:xfrm>
              <a:off x="2020676" y="2440939"/>
              <a:ext cx="1332230" cy="690245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0" name="AutoShape 15"/>
            <p:cNvSpPr/>
            <p:nvPr>
              <p:custDataLst>
                <p:tags r:id="rId25"/>
              </p:custDataLst>
            </p:nvPr>
          </p:nvSpPr>
          <p:spPr>
            <a:xfrm>
              <a:off x="3380675" y="2440939"/>
              <a:ext cx="1332230" cy="68961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3" name="TextBox 22"/>
            <p:cNvSpPr txBox="1"/>
            <p:nvPr>
              <p:custDataLst>
                <p:tags r:id="rId26"/>
              </p:custDataLst>
            </p:nvPr>
          </p:nvSpPr>
          <p:spPr>
            <a:xfrm>
              <a:off x="2090457" y="2614001"/>
              <a:ext cx="1117629" cy="64781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altLang="zh-CN" sz="1400" b="1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(5</a:t>
              </a:r>
              <a:r>
                <a:rPr lang="zh-CN" altLang="en-US" sz="1400" b="1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r>
                <a:rPr lang="en-US" altLang="zh-CN" sz="1400" b="1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)</a:t>
              </a:r>
              <a:endParaRPr lang="en-US" altLang="zh-CN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65" name="Group 24"/>
            <p:cNvGrpSpPr/>
            <p:nvPr/>
          </p:nvGrpSpPr>
          <p:grpSpPr>
            <a:xfrm rot="0">
              <a:off x="4928900" y="2440939"/>
              <a:ext cx="2505710" cy="689610"/>
              <a:chOff x="6368935" y="2440939"/>
              <a:chExt cx="3332594" cy="689610"/>
            </a:xfrm>
          </p:grpSpPr>
          <p:sp>
            <p:nvSpPr>
              <p:cNvPr id="66" name="AutoShape 25"/>
              <p:cNvSpPr/>
              <p:nvPr>
                <p:custDataLst>
                  <p:tags r:id="rId27"/>
                </p:custDataLst>
              </p:nvPr>
            </p:nvSpPr>
            <p:spPr>
              <a:xfrm>
                <a:off x="7929663" y="2440939"/>
                <a:ext cx="1771866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7" name="TextBox 27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6368935" y="2614017"/>
                <a:ext cx="1231354" cy="3200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00000"/>
                  </a:lnSpc>
                  <a:buClrTx/>
                  <a:buSzTx/>
                  <a:buFontTx/>
                  <a:defRPr/>
                </a:pPr>
                <a:r>
                  <a:rPr lang="zh-CN" altLang="en-US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（</a:t>
                </a:r>
                <a:r>
                  <a:rPr lang="en-US" altLang="zh-CN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3.5</a:t>
                </a:r>
                <a:r>
                  <a:rPr lang="zh-CN" altLang="en-US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分）</a:t>
                </a:r>
                <a:endParaRPr lang="en-US" sz="1400" b="1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9" name="Group 29"/>
            <p:cNvGrpSpPr/>
            <p:nvPr/>
          </p:nvGrpSpPr>
          <p:grpSpPr>
            <a:xfrm rot="0">
              <a:off x="3514388" y="2440939"/>
              <a:ext cx="5281931" cy="689610"/>
              <a:chOff x="4494301" y="2440939"/>
              <a:chExt cx="7024966" cy="689610"/>
            </a:xfrm>
          </p:grpSpPr>
          <p:sp>
            <p:nvSpPr>
              <p:cNvPr id="70" name="AutoShape 3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747402" y="2440939"/>
                <a:ext cx="1771865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1" name="TextBox 32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4494301" y="2621964"/>
                <a:ext cx="1318342" cy="38989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zh-CN" altLang="en-US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（</a:t>
                </a:r>
                <a:r>
                  <a:rPr lang="en-US" altLang="zh-CN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4</a:t>
                </a:r>
                <a:r>
                  <a:rPr lang="zh-CN" altLang="en-US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分）</a:t>
                </a:r>
                <a:br>
                  <a:rPr lang="en-US" sz="1400" b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</a:br>
                <a:endParaRPr lang="en-US" sz="1400" b="1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74" name="AutoShape 35"/>
            <p:cNvSpPr/>
            <p:nvPr>
              <p:custDataLst>
                <p:tags r:id="rId31"/>
              </p:custDataLst>
            </p:nvPr>
          </p:nvSpPr>
          <p:spPr>
            <a:xfrm>
              <a:off x="8825520" y="2440939"/>
              <a:ext cx="1332230" cy="688975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7" name="AutoShape 40"/>
            <p:cNvSpPr/>
            <p:nvPr>
              <p:custDataLst>
                <p:tags r:id="rId32"/>
              </p:custDataLst>
            </p:nvPr>
          </p:nvSpPr>
          <p:spPr>
            <a:xfrm>
              <a:off x="10186948" y="2440939"/>
              <a:ext cx="1332230" cy="69088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</p:grpSp>
      <p:sp>
        <p:nvSpPr>
          <p:cNvPr id="102" name="AutoShape 25"/>
          <p:cNvSpPr/>
          <p:nvPr>
            <p:custDataLst>
              <p:tags r:id="rId33"/>
            </p:custDataLst>
          </p:nvPr>
        </p:nvSpPr>
        <p:spPr>
          <a:xfrm>
            <a:off x="4765675" y="3933825"/>
            <a:ext cx="1332230" cy="1248410"/>
          </a:xfrm>
          <a:prstGeom prst="roundRect">
            <a:avLst>
              <a:gd name="adj" fmla="val 1413"/>
            </a:avLst>
          </a:prstGeom>
          <a:solidFill>
            <a:srgbClr val="065BF7">
              <a:alpha val="14901"/>
            </a:srgbClr>
          </a:solidFill>
          <a:ln>
            <a:prstDash val="solid"/>
            <a:headEnd type="none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战略决策核心要点</a:t>
            </a:r>
            <a:endParaRPr lang="en-US" sz="1100"/>
          </a:p>
        </p:txBody>
      </p:sp>
      <p:sp>
        <p:nvSpPr>
          <p:cNvPr id="48" name="TextBox 27"/>
          <p:cNvSpPr txBox="1"/>
          <p:nvPr>
            <p:custDataLst>
              <p:tags r:id="rId34"/>
            </p:custDataLst>
          </p:nvPr>
        </p:nvSpPr>
        <p:spPr>
          <a:xfrm>
            <a:off x="6353840" y="2603499"/>
            <a:ext cx="925830" cy="32004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defRPr/>
            </a:pPr>
            <a:r>
              <a:rPr lang="zh-CN" altLang="en-US" sz="1200" b="1"/>
              <a:t>模块/组件供应商 (ODM</a:t>
            </a:r>
            <a:r>
              <a:rPr lang="en-US" altLang="zh-CN" sz="1100"/>
              <a:t>)</a:t>
            </a:r>
            <a:endParaRPr lang="en-US" altLang="zh-CN" sz="1100"/>
          </a:p>
        </p:txBody>
      </p:sp>
      <p:sp>
        <p:nvSpPr>
          <p:cNvPr id="49" name="TextBox 27"/>
          <p:cNvSpPr txBox="1"/>
          <p:nvPr>
            <p:custDataLst>
              <p:tags r:id="rId35"/>
            </p:custDataLst>
          </p:nvPr>
        </p:nvSpPr>
        <p:spPr>
          <a:xfrm>
            <a:off x="7674610" y="2755900"/>
            <a:ext cx="1058545" cy="32004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1200" b="1"/>
              <a:t>成品（产品）销售</a:t>
            </a:r>
            <a:endParaRPr lang="zh-CN" altLang="en-US" sz="1200" b="1"/>
          </a:p>
        </p:txBody>
      </p:sp>
      <p:sp>
        <p:nvSpPr>
          <p:cNvPr id="83" name="TextBox 7"/>
          <p:cNvSpPr txBox="1"/>
          <p:nvPr>
            <p:custDataLst>
              <p:tags r:id="rId36"/>
            </p:custDataLst>
          </p:nvPr>
        </p:nvSpPr>
        <p:spPr>
          <a:xfrm>
            <a:off x="762000" y="3415665"/>
            <a:ext cx="1167765" cy="3867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16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综合分数</a:t>
            </a:r>
            <a:endParaRPr lang="en-US" sz="1100"/>
          </a:p>
        </p:txBody>
      </p:sp>
      <p:sp>
        <p:nvSpPr>
          <p:cNvPr id="84" name="TextBox 27"/>
          <p:cNvSpPr txBox="1"/>
          <p:nvPr>
            <p:custDataLst>
              <p:tags r:id="rId37"/>
            </p:custDataLst>
          </p:nvPr>
        </p:nvSpPr>
        <p:spPr>
          <a:xfrm>
            <a:off x="7670721" y="3492250"/>
            <a:ext cx="925806" cy="4602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</a:t>
            </a:r>
            <a:endParaRPr lang="en-US" sz="1400" b="1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27"/>
          <p:cNvSpPr txBox="1"/>
          <p:nvPr>
            <p:custDataLst>
              <p:tags r:id="rId38"/>
            </p:custDataLst>
          </p:nvPr>
        </p:nvSpPr>
        <p:spPr>
          <a:xfrm>
            <a:off x="6292771" y="3492885"/>
            <a:ext cx="925806" cy="4602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</a:t>
            </a:r>
            <a:endParaRPr lang="en-US" sz="1400" b="1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27"/>
          <p:cNvSpPr txBox="1"/>
          <p:nvPr>
            <p:custDataLst>
              <p:tags r:id="rId39"/>
            </p:custDataLst>
          </p:nvPr>
        </p:nvSpPr>
        <p:spPr>
          <a:xfrm>
            <a:off x="9013111" y="3491615"/>
            <a:ext cx="925806" cy="4602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</a:t>
            </a:r>
            <a:endParaRPr lang="en-US" sz="1400" b="1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27"/>
          <p:cNvSpPr txBox="1"/>
          <p:nvPr>
            <p:custDataLst>
              <p:tags r:id="rId40"/>
            </p:custDataLst>
          </p:nvPr>
        </p:nvSpPr>
        <p:spPr>
          <a:xfrm>
            <a:off x="10314861" y="3276350"/>
            <a:ext cx="925806" cy="4602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br>
              <a:rPr lang="en-US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</a:t>
            </a:r>
            <a:endParaRPr lang="en-US" sz="1400" b="1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9" name="Group 2"/>
          <p:cNvGrpSpPr/>
          <p:nvPr>
            <p:custDataLst>
              <p:tags r:id="rId41"/>
            </p:custDataLst>
          </p:nvPr>
        </p:nvGrpSpPr>
        <p:grpSpPr>
          <a:xfrm rot="0">
            <a:off x="646430" y="3930650"/>
            <a:ext cx="10927715" cy="1251585"/>
            <a:chOff x="660400" y="2440673"/>
            <a:chExt cx="10858778" cy="691146"/>
          </a:xfrm>
        </p:grpSpPr>
        <p:sp>
          <p:nvSpPr>
            <p:cNvPr id="90" name="AutoShape 5"/>
            <p:cNvSpPr/>
            <p:nvPr>
              <p:custDataLst>
                <p:tags r:id="rId42"/>
              </p:custDataLst>
            </p:nvPr>
          </p:nvSpPr>
          <p:spPr>
            <a:xfrm>
              <a:off x="660400" y="2440673"/>
              <a:ext cx="1332230" cy="68961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1" name="AutoShape 10"/>
            <p:cNvSpPr/>
            <p:nvPr>
              <p:custDataLst>
                <p:tags r:id="rId43"/>
              </p:custDataLst>
            </p:nvPr>
          </p:nvSpPr>
          <p:spPr>
            <a:xfrm>
              <a:off x="2020676" y="2440939"/>
              <a:ext cx="1332230" cy="690245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2" name="AutoShape 15"/>
            <p:cNvSpPr/>
            <p:nvPr>
              <p:custDataLst>
                <p:tags r:id="rId44"/>
              </p:custDataLst>
            </p:nvPr>
          </p:nvSpPr>
          <p:spPr>
            <a:xfrm>
              <a:off x="3380675" y="2440939"/>
              <a:ext cx="1332230" cy="68961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3" name="TextBox 22"/>
            <p:cNvSpPr txBox="1"/>
            <p:nvPr>
              <p:custDataLst>
                <p:tags r:id="rId45"/>
              </p:custDataLst>
            </p:nvPr>
          </p:nvSpPr>
          <p:spPr>
            <a:xfrm>
              <a:off x="2220000" y="2534649"/>
              <a:ext cx="1345599" cy="28122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lnSpc>
                  <a:spcPct val="100000"/>
                </a:lnSpc>
                <a:defRPr/>
              </a:pPr>
              <a:r>
                <a: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匹配度：★★★★★</a:t>
              </a:r>
              <a:endPara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00000"/>
                </a:lnSpc>
                <a:defRPr/>
              </a:pPr>
              <a:endParaRPr lang="en-US" altLang="zh-CN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00000"/>
                </a:lnSpc>
                <a:defRPr/>
              </a:pPr>
              <a:r>
                <a: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风险：</a:t>
              </a:r>
              <a:br>
                <a: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★☆☆☆☆</a:t>
              </a:r>
              <a:endPara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94" name="Group 24"/>
            <p:cNvGrpSpPr/>
            <p:nvPr/>
          </p:nvGrpSpPr>
          <p:grpSpPr>
            <a:xfrm rot="0">
              <a:off x="4890799" y="2440939"/>
              <a:ext cx="2543811" cy="689610"/>
              <a:chOff x="6318260" y="2440939"/>
              <a:chExt cx="3383269" cy="689610"/>
            </a:xfrm>
          </p:grpSpPr>
          <p:sp>
            <p:nvSpPr>
              <p:cNvPr id="95" name="AutoShape 25"/>
              <p:cNvSpPr/>
              <p:nvPr>
                <p:custDataLst>
                  <p:tags r:id="rId46"/>
                </p:custDataLst>
              </p:nvPr>
            </p:nvSpPr>
            <p:spPr>
              <a:xfrm>
                <a:off x="7929663" y="2440939"/>
                <a:ext cx="1771866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6" name="TextBox 27"/>
              <p:cNvSpPr txBox="1"/>
              <p:nvPr>
                <p:custDataLst>
                  <p:tags r:id="rId47"/>
                </p:custDataLst>
              </p:nvPr>
            </p:nvSpPr>
            <p:spPr>
              <a:xfrm>
                <a:off x="6318260" y="2542279"/>
                <a:ext cx="1495736" cy="5084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buClrTx/>
                  <a:buSzTx/>
                  <a:buFontTx/>
                  <a:defRPr/>
                </a:pP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匹配度：</a:t>
                </a:r>
                <a:b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</a:b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★★☆☆☆</a:t>
                </a:r>
                <a:b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</a:br>
                <a:endPara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00000"/>
                  </a:lnSpc>
                  <a:buClrTx/>
                  <a:buSzTx/>
                  <a:buFontTx/>
                  <a:defRPr/>
                </a:pP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风险：</a:t>
                </a:r>
                <a:b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</a:b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★★★☆☆</a:t>
                </a:r>
                <a:endPara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97" name="Group 29"/>
            <p:cNvGrpSpPr/>
            <p:nvPr/>
          </p:nvGrpSpPr>
          <p:grpSpPr>
            <a:xfrm rot="0">
              <a:off x="3656186" y="2440939"/>
              <a:ext cx="5140133" cy="689610"/>
              <a:chOff x="4682892" y="2440939"/>
              <a:chExt cx="6836375" cy="689610"/>
            </a:xfrm>
          </p:grpSpPr>
          <p:sp>
            <p:nvSpPr>
              <p:cNvPr id="98" name="AutoShape 30"/>
              <p:cNvSpPr/>
              <p:nvPr>
                <p:custDataLst>
                  <p:tags r:id="rId48"/>
                </p:custDataLst>
              </p:nvPr>
            </p:nvSpPr>
            <p:spPr>
              <a:xfrm>
                <a:off x="9747402" y="2440939"/>
                <a:ext cx="1771865" cy="689610"/>
              </a:xfrm>
              <a:prstGeom prst="roundRect">
                <a:avLst>
                  <a:gd name="adj" fmla="val 1413"/>
                </a:avLst>
              </a:prstGeom>
              <a:solidFill>
                <a:srgbClr val="065BF7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9" name="TextBox 32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4682892" y="2521590"/>
                <a:ext cx="1317531" cy="3899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buClrTx/>
                  <a:buSzTx/>
                  <a:buNone/>
                  <a:defRPr/>
                </a:pP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匹配度：★★★☆☆</a:t>
                </a:r>
                <a:endPara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00000"/>
                  </a:lnSpc>
                  <a:buClrTx/>
                  <a:buSzTx/>
                  <a:buNone/>
                  <a:defRPr/>
                </a:pPr>
                <a:endParaRPr lang="zh-CN" altLang="en-US" sz="12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00000"/>
                  </a:lnSpc>
                  <a:buClrTx/>
                  <a:buSzTx/>
                  <a:buNone/>
                  <a:defRPr/>
                </a:pPr>
                <a:r>
                  <a:rPr lang="zh-CN" altLang="en-US" sz="120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风险：★★☆☆☆</a:t>
                </a:r>
                <a:endParaRPr lang="zh-CN" altLang="en-US" sz="140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00" name="AutoShape 35"/>
            <p:cNvSpPr/>
            <p:nvPr>
              <p:custDataLst>
                <p:tags r:id="rId50"/>
              </p:custDataLst>
            </p:nvPr>
          </p:nvSpPr>
          <p:spPr>
            <a:xfrm>
              <a:off x="8825520" y="2440939"/>
              <a:ext cx="1332230" cy="688975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01" name="AutoShape 40"/>
            <p:cNvSpPr/>
            <p:nvPr>
              <p:custDataLst>
                <p:tags r:id="rId51"/>
              </p:custDataLst>
            </p:nvPr>
          </p:nvSpPr>
          <p:spPr>
            <a:xfrm>
              <a:off x="10186948" y="2440939"/>
              <a:ext cx="1332230" cy="690880"/>
            </a:xfrm>
            <a:prstGeom prst="roundRect">
              <a:avLst>
                <a:gd name="adj" fmla="val 1413"/>
              </a:avLst>
            </a:prstGeom>
            <a:solidFill>
              <a:srgbClr val="065BF7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</p:grpSp>
      <p:sp>
        <p:nvSpPr>
          <p:cNvPr id="103" name="TextBox 22"/>
          <p:cNvSpPr txBox="1"/>
          <p:nvPr>
            <p:custDataLst>
              <p:tags r:id="rId52"/>
            </p:custDataLst>
          </p:nvPr>
        </p:nvSpPr>
        <p:spPr>
          <a:xfrm>
            <a:off x="762000" y="4332605"/>
            <a:ext cx="1167130" cy="387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defRPr/>
            </a:pPr>
            <a:r>
              <a:rPr lang="zh-CN" altLang="en-US" sz="14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匹配程度及风险星</a:t>
            </a:r>
            <a:r>
              <a:rPr lang="zh-CN" altLang="en-US" sz="14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lang="zh-CN" altLang="en-US" sz="1400" b="1" i="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Box 22"/>
          <p:cNvSpPr txBox="1"/>
          <p:nvPr>
            <p:custDataLst>
              <p:tags r:id="rId53"/>
            </p:custDataLst>
          </p:nvPr>
        </p:nvSpPr>
        <p:spPr>
          <a:xfrm>
            <a:off x="6192520" y="4100830"/>
            <a:ext cx="1228090" cy="387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匹配度：★★★☆☆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风险：★★★☆☆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Box 22"/>
          <p:cNvSpPr txBox="1"/>
          <p:nvPr>
            <p:custDataLst>
              <p:tags r:id="rId54"/>
            </p:custDataLst>
          </p:nvPr>
        </p:nvSpPr>
        <p:spPr>
          <a:xfrm>
            <a:off x="7499350" y="4114800"/>
            <a:ext cx="1311275" cy="387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匹配度：★★☆☆☆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风险：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★★★★☆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22"/>
          <p:cNvSpPr txBox="1"/>
          <p:nvPr>
            <p:custDataLst>
              <p:tags r:id="rId55"/>
            </p:custDataLst>
          </p:nvPr>
        </p:nvSpPr>
        <p:spPr>
          <a:xfrm>
            <a:off x="8869045" y="4114800"/>
            <a:ext cx="1311275" cy="387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匹配度：★☆☆☆☆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风险：</a:t>
            </a:r>
            <a:b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★★★★★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22"/>
          <p:cNvSpPr txBox="1"/>
          <p:nvPr>
            <p:custDataLst>
              <p:tags r:id="rId56"/>
            </p:custDataLst>
          </p:nvPr>
        </p:nvSpPr>
        <p:spPr>
          <a:xfrm>
            <a:off x="10253980" y="4077335"/>
            <a:ext cx="1250950" cy="387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匹配度：★☆☆☆☆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风险：★★★★★</a:t>
            </a:r>
            <a:endParaRPr lang="zh-CN" altLang="en-US" sz="1200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27"/>
          <p:cNvSpPr txBox="1"/>
          <p:nvPr>
            <p:custDataLst>
              <p:tags r:id="rId57"/>
            </p:custDataLst>
          </p:nvPr>
        </p:nvSpPr>
        <p:spPr>
          <a:xfrm>
            <a:off x="9013220" y="2774314"/>
            <a:ext cx="925830" cy="32004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defRPr/>
            </a:pPr>
            <a:r>
              <a:rPr lang="zh-CN" altLang="en-US" sz="1200" b="1"/>
              <a:t>技术授权 (Licensing)</a:t>
            </a:r>
            <a:endParaRPr lang="zh-CN" altLang="en-US" sz="1200" b="1"/>
          </a:p>
        </p:txBody>
      </p:sp>
      <p:sp>
        <p:nvSpPr>
          <p:cNvPr id="8" name="TextBox 27"/>
          <p:cNvSpPr txBox="1"/>
          <p:nvPr>
            <p:custDataLst>
              <p:tags r:id="rId58"/>
            </p:custDataLst>
          </p:nvPr>
        </p:nvSpPr>
        <p:spPr>
          <a:xfrm>
            <a:off x="10314970" y="2621914"/>
            <a:ext cx="925830" cy="32004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defRPr/>
            </a:pPr>
            <a:r>
              <a:rPr lang="zh-CN" altLang="en-US" sz="1200" b="1"/>
              <a:t>纯软件</a:t>
            </a:r>
            <a:r>
              <a:rPr lang="en-US" altLang="zh-CN" sz="1200" b="1"/>
              <a:t>/</a:t>
            </a:r>
            <a:r>
              <a:rPr lang="zh-CN" altLang="en-US" sz="1200" b="1"/>
              <a:t>算法服务</a:t>
            </a:r>
            <a:r>
              <a:rPr lang="en-US" altLang="zh-CN" sz="1200" b="1"/>
              <a:t> (SaaS)</a:t>
            </a:r>
            <a:endParaRPr lang="en-US" altLang="zh-CN" sz="12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226553"/>
            <a:ext cx="10858500" cy="241901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ln w="19050"/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5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6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7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8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9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0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1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2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3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7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8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9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2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2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2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23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2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2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2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27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28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29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3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3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3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33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3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3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3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37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38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39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4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4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4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43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4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4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4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47.xml><?xml version="1.0" encoding="utf-8"?>
<p:tagLst xmlns:p="http://schemas.openxmlformats.org/presentationml/2006/main">
  <p:tag name="KSO_WM_DIAGRAM_VIRTUALLY_FRAME" val="{&quot;height&quot;:499.14984251968497,&quot;left&quot;:50.670391917663984,&quot;top&quot;:83.00007874015748,&quot;width&quot;:858.229765562651}"/>
</p:tagLst>
</file>

<file path=ppt/tags/tag48.xml><?xml version="1.0" encoding="utf-8"?>
<p:tagLst xmlns:p="http://schemas.openxmlformats.org/presentationml/2006/main">
  <p:tag name="KSO_WM_DIAGRAM_VIRTUALLY_FRAME" val="{&quot;height&quot;:424.99992125984255,&quot;left&quot;:-6.003307086614131,&quot;top&quot;:89.00007874015748,&quot;width&quot;:913.0033070866142}"/>
</p:tagLst>
</file>

<file path=ppt/tags/tag49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5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5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5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53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5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5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5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57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58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59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6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6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6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63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6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6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6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67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68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69.xml><?xml version="1.0" encoding="utf-8"?>
<p:tagLst xmlns:p="http://schemas.openxmlformats.org/presentationml/2006/main">
  <p:tag name="TABLE_ENDDRAG_ORIGIN_RECT" val="855*94"/>
  <p:tag name="TABLE_ENDDRAG_RECT" val="52*408*855*94"/>
</p:tagLst>
</file>

<file path=ppt/tags/tag7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7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7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73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7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7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7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77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78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79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8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8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8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83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8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8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8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87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88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89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9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9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9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93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9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9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9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97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98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99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0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0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0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03.xml><?xml version="1.0" encoding="utf-8"?>
<p:tagLst xmlns:p="http://schemas.openxmlformats.org/presentationml/2006/main">
  <p:tag name="KSO_WM_DIAGRAM_VIRTUALLY_FRAME" val="{&quot;height&quot;:499.14984251968497,&quot;left&quot;:50.670391917663984,&quot;top&quot;:83.00007874015748,&quot;width&quot;:858.229765562651}"/>
</p:tagLst>
</file>

<file path=ppt/tags/tag104.xml><?xml version="1.0" encoding="utf-8"?>
<p:tagLst xmlns:p="http://schemas.openxmlformats.org/presentationml/2006/main">
  <p:tag name="KSO_WM_DIAGRAM_VIRTUALLY_FRAME" val="{&quot;height&quot;:499.14984251968497,&quot;left&quot;:50.670391917663984,&quot;top&quot;:83.00007874015748,&quot;width&quot;:858.229765562651}"/>
</p:tagLst>
</file>

<file path=ppt/tags/tag105.xml><?xml version="1.0" encoding="utf-8"?>
<p:tagLst xmlns:p="http://schemas.openxmlformats.org/presentationml/2006/main">
  <p:tag name="KSO_WM_DIAGRAM_VIRTUALLY_FRAME" val="{&quot;height&quot;:424.99992125984255,&quot;left&quot;:-6.003307086614131,&quot;top&quot;:89.00007874015748,&quot;width&quot;:913.0033070866142}"/>
</p:tagLst>
</file>

<file path=ppt/tags/tag10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07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08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09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1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1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1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13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1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1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16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17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18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19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20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21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22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23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24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25.xml><?xml version="1.0" encoding="utf-8"?>
<p:tagLst xmlns:p="http://schemas.openxmlformats.org/presentationml/2006/main">
  <p:tag name="KSO_WM_DIAGRAM_VIRTUALLY_FRAME" val="{&quot;height&quot;:499.449842519685,&quot;left&quot;:-83.97960646472384,&quot;top&quot;:83.00007874015748,&quot;width&quot;:992.8797639450388}"/>
</p:tagLst>
</file>

<file path=ppt/tags/tag126.xml><?xml version="1.0" encoding="utf-8"?>
<p:tagLst xmlns:p="http://schemas.openxmlformats.org/presentationml/2006/main">
  <p:tag name="KSO_WM_DIAGRAM_VIRTUALLY_FRAME" val="{&quot;height&quot;:499.14984251968497,&quot;left&quot;:50.670391917663984,&quot;top&quot;:83.00007874015748,&quot;width&quot;:858.229765562651}"/>
</p:tagLst>
</file>

<file path=ppt/tags/tag127.xml><?xml version="1.0" encoding="utf-8"?>
<p:tagLst xmlns:p="http://schemas.openxmlformats.org/presentationml/2006/main">
  <p:tag name="KSO_WM_DIAGRAM_VIRTUALLY_FRAME" val="{&quot;height&quot;:499.14984251968497,&quot;left&quot;:50.670391917663984,&quot;top&quot;:83.00007874015748,&quot;width&quot;:858.229765562651}"/>
</p:tagLst>
</file>

<file path=ppt/tags/tag128.xml><?xml version="1.0" encoding="utf-8"?>
<p:tagLst xmlns:p="http://schemas.openxmlformats.org/presentationml/2006/main">
  <p:tag name="resource_record_key" val="{&quot;29&quot;:[50000177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</Words>
  <Application>WPS 演示</Application>
  <PresentationFormat>On-screen Show (4:3)</PresentationFormat>
  <Paragraphs>209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Arial Unicode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南烯公共</cp:lastModifiedBy>
  <cp:revision>67</cp:revision>
  <dcterms:created xsi:type="dcterms:W3CDTF">2006-08-16T00:00:00Z</dcterms:created>
  <dcterms:modified xsi:type="dcterms:W3CDTF">2026-01-23T07:59:34Z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ECF19EB264444735A1638A838AFFF55F_12</vt:lpwstr>
  </property>
</Properties>
</file>